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05A41-F758-B2D4-4334-997F872F1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A24910-643B-7ED1-A792-0C3CDE217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61C4C7-18FD-4F4A-DB69-857DCC9DF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5F0E12-91F6-CE74-8232-31B2906F9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A7E56E-460A-1CF8-1BA5-A4D5373D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3BB91-4148-DB79-5D68-A2DC59B4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C21864-6478-90C7-F2FC-4506F329E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03C435-5C67-CCCC-F5EA-10602DBC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BC99C5-CAF3-2757-8DE5-F78ADBF76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4D2679-CB4A-FF53-D255-E057BF96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0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3F19F-3814-9744-E2A3-AFCC41AA8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2A55C4-4BD1-0334-00BA-6FE19C032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18EE6-320C-49BD-8DDD-61E4C780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5FA082-4DE0-57A3-9E03-8155A2A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6F66DB-F748-7043-BACD-F7AFCF61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47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831B9-F5E1-E523-E44A-DAC90EDB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B3A4EE-8E17-BAE6-4992-885AE200F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F548A9-9F18-A9E3-3A51-B99AF32E0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2F87E-E894-E45A-B9C4-5D902DC70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4665C2-6A7E-9513-8928-0120B9A15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155A6B-B555-8A57-A37E-AB5EE81F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1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13B4B-26A5-BF70-481A-22389E0B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2D7467-B033-79FC-D2F6-0CB92E06B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44F820-699C-9179-FF7B-9DA71C150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A1B2B77-A5BB-FDBB-7C12-0C9EF5BA3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0606F0B-4620-249B-940E-5ADD64CEB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E08F273-89D6-E70C-EBC1-ACA5E750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EDC3E3-8C83-091C-17B5-B7106808D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156D955-FB27-FE80-2634-04F8C533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4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5D9F8-7703-B1D6-A625-D97A0EBC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12284A-8012-065E-3B84-0B74EA1F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41BA0FA-FDE3-DA8C-D3A9-37CEA5D0C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0618DBA-B2D9-1FC9-8F38-6E5DB8842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5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15D437-7664-DA1E-1C72-7F59CEA9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79B86C-6845-42D5-1F1E-9A7C74113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575838-3FC8-B252-4241-CCE1C8C7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14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BAD67-A54F-E3D4-D6A6-1D988E347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12DEC0-BF65-B95C-8031-1B76DAD78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55E2C4-6388-D58F-38AD-FC9281BCF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C39EFC-98C9-CBED-1754-30B7E231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DA094A-C994-5ACE-424D-A6F7C22B8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716933-3818-2062-9790-32188A87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09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886D7-84F0-DBAA-FAAA-95C7A67E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946CA8-7FEB-0396-813A-1B7E53A2F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E2A5BA-3447-998F-67FD-E7F0C66F4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4B3691-C987-30C3-71D5-7ED3E49B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111A7B-7D15-3105-84EC-4AA907D9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385D01-AA7A-6CA0-99DA-B371B8C51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0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7B49D-D81C-B7AF-7E44-67EE7939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BBCDE8-0A61-5FB4-86E1-56B198605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24A50C-D0DE-821E-1D49-7E38528D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F70FC7-218C-B18E-B05C-46D3EEB75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EE6D6E-A328-BE94-87A4-5FC86902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78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9C0A04-E98B-6F0C-56E6-150897B76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DC6CB0-5027-C0D8-397E-6EDD82E03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B0EA8B-F705-3C4A-1631-CEFB0EE7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62FE37-F421-EC8F-CDD9-D637AA3E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DB3678-3D86-8AF1-21D7-A9CC5F395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21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FB1593-B680-27BC-4C21-884E1852A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66687-E864-2FB7-632F-EE8A3D686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0E5AAC-31D7-C308-E8FD-ACDCDF568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B58EF-DCE9-4B2F-BC37-E6E68C7749CF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E33719-0A42-9FCF-9799-C64567575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62F974-0CED-9D0A-4A83-ED9502703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2C062-4CD0-483E-BBAC-4DAD0635594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7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75F76B6-CB4C-441A-CAA8-68374C306C9F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76E8024-BB65-5D7C-4FAC-BF6C0E6B1929}"/>
              </a:ext>
            </a:extLst>
          </p:cNvPr>
          <p:cNvSpPr/>
          <p:nvPr/>
        </p:nvSpPr>
        <p:spPr>
          <a:xfrm>
            <a:off x="7620000" y="0"/>
            <a:ext cx="4572000" cy="889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A697B5F-EF42-0214-2622-8EDFD1DEB6D0}"/>
              </a:ext>
            </a:extLst>
          </p:cNvPr>
          <p:cNvSpPr/>
          <p:nvPr/>
        </p:nvSpPr>
        <p:spPr>
          <a:xfrm>
            <a:off x="9652000" y="0"/>
            <a:ext cx="2540000" cy="38100"/>
          </a:xfrm>
          <a:prstGeom prst="rect">
            <a:avLst/>
          </a:prstGeom>
          <a:solidFill>
            <a:srgbClr val="00B9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F84B871-7E3E-B4F9-D2B2-0ABA60180EE5}"/>
              </a:ext>
            </a:extLst>
          </p:cNvPr>
          <p:cNvSpPr/>
          <p:nvPr/>
        </p:nvSpPr>
        <p:spPr>
          <a:xfrm>
            <a:off x="0" y="6731000"/>
            <a:ext cx="12192000" cy="127000"/>
          </a:xfrm>
          <a:prstGeom prst="rect">
            <a:avLst/>
          </a:prstGeom>
          <a:solidFill>
            <a:srgbClr val="00B9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BFBC31B-5E99-8762-9682-402C66476C2D}"/>
              </a:ext>
            </a:extLst>
          </p:cNvPr>
          <p:cNvSpPr/>
          <p:nvPr/>
        </p:nvSpPr>
        <p:spPr>
          <a:xfrm>
            <a:off x="9017000" y="228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3FB6044-AB6E-CBAE-8DE3-D127401FDFD9}"/>
              </a:ext>
            </a:extLst>
          </p:cNvPr>
          <p:cNvSpPr/>
          <p:nvPr/>
        </p:nvSpPr>
        <p:spPr>
          <a:xfrm>
            <a:off x="9017000" y="1092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406129-41DE-48CC-B39B-E5A493494364}"/>
              </a:ext>
            </a:extLst>
          </p:cNvPr>
          <p:cNvSpPr/>
          <p:nvPr/>
        </p:nvSpPr>
        <p:spPr>
          <a:xfrm>
            <a:off x="9017000" y="19558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3D6DC6D-906E-1C6E-BF75-7FD8C8C5F1E2}"/>
              </a:ext>
            </a:extLst>
          </p:cNvPr>
          <p:cNvSpPr/>
          <p:nvPr/>
        </p:nvSpPr>
        <p:spPr>
          <a:xfrm>
            <a:off x="9017000" y="28194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38EDC5B-E3E6-B2A5-B13D-7613B2766B45}"/>
              </a:ext>
            </a:extLst>
          </p:cNvPr>
          <p:cNvSpPr/>
          <p:nvPr/>
        </p:nvSpPr>
        <p:spPr>
          <a:xfrm>
            <a:off x="9017000" y="36830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56123CC-B33B-73DC-28BC-87EE539EBA51}"/>
              </a:ext>
            </a:extLst>
          </p:cNvPr>
          <p:cNvSpPr/>
          <p:nvPr/>
        </p:nvSpPr>
        <p:spPr>
          <a:xfrm>
            <a:off x="9017000" y="4546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CD22A25-8BA6-A633-FF08-638DF0B05557}"/>
              </a:ext>
            </a:extLst>
          </p:cNvPr>
          <p:cNvSpPr/>
          <p:nvPr/>
        </p:nvSpPr>
        <p:spPr>
          <a:xfrm>
            <a:off x="9017000" y="5410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EE2EFE3-76B0-4286-B32C-5AB9329B83BD}"/>
              </a:ext>
            </a:extLst>
          </p:cNvPr>
          <p:cNvSpPr/>
          <p:nvPr/>
        </p:nvSpPr>
        <p:spPr>
          <a:xfrm>
            <a:off x="9347200" y="228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CF06428-77E0-2860-9A23-3ECF9941F12C}"/>
              </a:ext>
            </a:extLst>
          </p:cNvPr>
          <p:cNvSpPr/>
          <p:nvPr/>
        </p:nvSpPr>
        <p:spPr>
          <a:xfrm>
            <a:off x="9347200" y="1092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257BBA0-B61F-0395-C7FD-683442579FD8}"/>
              </a:ext>
            </a:extLst>
          </p:cNvPr>
          <p:cNvSpPr/>
          <p:nvPr/>
        </p:nvSpPr>
        <p:spPr>
          <a:xfrm>
            <a:off x="9347200" y="19558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3D6D88E-95E8-6DF3-D181-A14E6321E976}"/>
              </a:ext>
            </a:extLst>
          </p:cNvPr>
          <p:cNvSpPr/>
          <p:nvPr/>
        </p:nvSpPr>
        <p:spPr>
          <a:xfrm>
            <a:off x="9347200" y="28194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FE505F2-7C41-79A0-43F5-42B70B9EC968}"/>
              </a:ext>
            </a:extLst>
          </p:cNvPr>
          <p:cNvSpPr/>
          <p:nvPr/>
        </p:nvSpPr>
        <p:spPr>
          <a:xfrm>
            <a:off x="9347200" y="36830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55E2CF4-66A3-1D6F-26BD-45827EC879C0}"/>
              </a:ext>
            </a:extLst>
          </p:cNvPr>
          <p:cNvSpPr/>
          <p:nvPr/>
        </p:nvSpPr>
        <p:spPr>
          <a:xfrm>
            <a:off x="9347200" y="4546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A072BFC-82EB-C441-69D3-DCB62FB1F55D}"/>
              </a:ext>
            </a:extLst>
          </p:cNvPr>
          <p:cNvSpPr/>
          <p:nvPr/>
        </p:nvSpPr>
        <p:spPr>
          <a:xfrm>
            <a:off x="9347200" y="5410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CEF7A1D-C1BC-99D1-43E2-997648BA81D3}"/>
              </a:ext>
            </a:extLst>
          </p:cNvPr>
          <p:cNvSpPr/>
          <p:nvPr/>
        </p:nvSpPr>
        <p:spPr>
          <a:xfrm>
            <a:off x="9677400" y="228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68CE681-584B-2D59-0620-10931650DB08}"/>
              </a:ext>
            </a:extLst>
          </p:cNvPr>
          <p:cNvSpPr/>
          <p:nvPr/>
        </p:nvSpPr>
        <p:spPr>
          <a:xfrm>
            <a:off x="9677400" y="1092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533BEA7-F32F-A5F3-5893-8ABC22A5AEDD}"/>
              </a:ext>
            </a:extLst>
          </p:cNvPr>
          <p:cNvSpPr/>
          <p:nvPr/>
        </p:nvSpPr>
        <p:spPr>
          <a:xfrm>
            <a:off x="9677400" y="19558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5B1FB60-69F5-E3D3-0913-C0B29CE87306}"/>
              </a:ext>
            </a:extLst>
          </p:cNvPr>
          <p:cNvSpPr/>
          <p:nvPr/>
        </p:nvSpPr>
        <p:spPr>
          <a:xfrm>
            <a:off x="9677400" y="28194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2A8DFD-379B-9923-700F-532A0E9F4A88}"/>
              </a:ext>
            </a:extLst>
          </p:cNvPr>
          <p:cNvSpPr/>
          <p:nvPr/>
        </p:nvSpPr>
        <p:spPr>
          <a:xfrm>
            <a:off x="9677400" y="36830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00FFBAF-1207-1CA9-64AC-EF79C1394255}"/>
              </a:ext>
            </a:extLst>
          </p:cNvPr>
          <p:cNvSpPr/>
          <p:nvPr/>
        </p:nvSpPr>
        <p:spPr>
          <a:xfrm>
            <a:off x="9677400" y="4546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383FDA4-6C06-5C70-3D3D-848D853E24F7}"/>
              </a:ext>
            </a:extLst>
          </p:cNvPr>
          <p:cNvSpPr/>
          <p:nvPr/>
        </p:nvSpPr>
        <p:spPr>
          <a:xfrm>
            <a:off x="9677400" y="5410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1E3989C-58B1-BB37-C2AA-6CBE9BE89BA5}"/>
              </a:ext>
            </a:extLst>
          </p:cNvPr>
          <p:cNvSpPr/>
          <p:nvPr/>
        </p:nvSpPr>
        <p:spPr>
          <a:xfrm>
            <a:off x="10007600" y="228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ADDD9A-FE99-3116-B62C-39C94D77F110}"/>
              </a:ext>
            </a:extLst>
          </p:cNvPr>
          <p:cNvSpPr/>
          <p:nvPr/>
        </p:nvSpPr>
        <p:spPr>
          <a:xfrm>
            <a:off x="10007600" y="1092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A0E2879-5BB8-EA86-8FF1-0485F3BDAFF8}"/>
              </a:ext>
            </a:extLst>
          </p:cNvPr>
          <p:cNvSpPr/>
          <p:nvPr/>
        </p:nvSpPr>
        <p:spPr>
          <a:xfrm>
            <a:off x="10007600" y="19558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C4895B8-949D-1EFE-921D-928A01FA7272}"/>
              </a:ext>
            </a:extLst>
          </p:cNvPr>
          <p:cNvSpPr/>
          <p:nvPr/>
        </p:nvSpPr>
        <p:spPr>
          <a:xfrm>
            <a:off x="10007600" y="28194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E77BD28-C8B4-CF0C-E283-7669FE93C259}"/>
              </a:ext>
            </a:extLst>
          </p:cNvPr>
          <p:cNvSpPr/>
          <p:nvPr/>
        </p:nvSpPr>
        <p:spPr>
          <a:xfrm>
            <a:off x="10007600" y="36830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B39052F-205D-2195-D20F-708D5E316EDE}"/>
              </a:ext>
            </a:extLst>
          </p:cNvPr>
          <p:cNvSpPr/>
          <p:nvPr/>
        </p:nvSpPr>
        <p:spPr>
          <a:xfrm>
            <a:off x="10007600" y="4546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0565D21-E3A9-9A89-1E26-01BEA5DF821F}"/>
              </a:ext>
            </a:extLst>
          </p:cNvPr>
          <p:cNvSpPr/>
          <p:nvPr/>
        </p:nvSpPr>
        <p:spPr>
          <a:xfrm>
            <a:off x="10007600" y="5410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F34438F-2596-1BA5-4A66-5AD1B5F0EC15}"/>
              </a:ext>
            </a:extLst>
          </p:cNvPr>
          <p:cNvSpPr/>
          <p:nvPr/>
        </p:nvSpPr>
        <p:spPr>
          <a:xfrm>
            <a:off x="10337800" y="228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7904D20-A35F-45ED-98A1-CB8079C2087F}"/>
              </a:ext>
            </a:extLst>
          </p:cNvPr>
          <p:cNvSpPr/>
          <p:nvPr/>
        </p:nvSpPr>
        <p:spPr>
          <a:xfrm>
            <a:off x="10337800" y="1092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4460B04C-E15D-64AE-6777-8ED64863D901}"/>
              </a:ext>
            </a:extLst>
          </p:cNvPr>
          <p:cNvSpPr/>
          <p:nvPr/>
        </p:nvSpPr>
        <p:spPr>
          <a:xfrm>
            <a:off x="10337800" y="19558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1CFF1A7-2091-4A79-0F1A-B2140F94109B}"/>
              </a:ext>
            </a:extLst>
          </p:cNvPr>
          <p:cNvSpPr/>
          <p:nvPr/>
        </p:nvSpPr>
        <p:spPr>
          <a:xfrm>
            <a:off x="10337800" y="28194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B0824F6-4A07-968B-6509-3EED7E459BAA}"/>
              </a:ext>
            </a:extLst>
          </p:cNvPr>
          <p:cNvSpPr/>
          <p:nvPr/>
        </p:nvSpPr>
        <p:spPr>
          <a:xfrm>
            <a:off x="10337800" y="36830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D1783A7-31D2-ABA4-350F-95AE4C31349B}"/>
              </a:ext>
            </a:extLst>
          </p:cNvPr>
          <p:cNvSpPr/>
          <p:nvPr/>
        </p:nvSpPr>
        <p:spPr>
          <a:xfrm>
            <a:off x="10337800" y="4546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F5CBB349-52A4-ADFF-F0B6-144C29CE95A7}"/>
              </a:ext>
            </a:extLst>
          </p:cNvPr>
          <p:cNvSpPr/>
          <p:nvPr/>
        </p:nvSpPr>
        <p:spPr>
          <a:xfrm>
            <a:off x="10337800" y="5410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DFF824F-5518-4C65-932F-00779D203859}"/>
              </a:ext>
            </a:extLst>
          </p:cNvPr>
          <p:cNvSpPr/>
          <p:nvPr/>
        </p:nvSpPr>
        <p:spPr>
          <a:xfrm>
            <a:off x="10668000" y="228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2A5D640-FF06-0006-B893-D4D9738210D0}"/>
              </a:ext>
            </a:extLst>
          </p:cNvPr>
          <p:cNvSpPr/>
          <p:nvPr/>
        </p:nvSpPr>
        <p:spPr>
          <a:xfrm>
            <a:off x="10668000" y="1092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B44F6B68-D909-F1DD-6D52-E5362BE844AA}"/>
              </a:ext>
            </a:extLst>
          </p:cNvPr>
          <p:cNvSpPr/>
          <p:nvPr/>
        </p:nvSpPr>
        <p:spPr>
          <a:xfrm>
            <a:off x="10668000" y="19558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B1DDA39-5264-9E4B-7331-332504CB373E}"/>
              </a:ext>
            </a:extLst>
          </p:cNvPr>
          <p:cNvSpPr/>
          <p:nvPr/>
        </p:nvSpPr>
        <p:spPr>
          <a:xfrm>
            <a:off x="10668000" y="28194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FB9C7E8A-600A-9061-A301-26A9F56D8D80}"/>
              </a:ext>
            </a:extLst>
          </p:cNvPr>
          <p:cNvSpPr/>
          <p:nvPr/>
        </p:nvSpPr>
        <p:spPr>
          <a:xfrm>
            <a:off x="10668000" y="36830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7204B94C-A00D-1437-D14E-5C8D1895E248}"/>
              </a:ext>
            </a:extLst>
          </p:cNvPr>
          <p:cNvSpPr/>
          <p:nvPr/>
        </p:nvSpPr>
        <p:spPr>
          <a:xfrm>
            <a:off x="10668000" y="4546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9B0654C1-87FF-4018-662F-748E2129B646}"/>
              </a:ext>
            </a:extLst>
          </p:cNvPr>
          <p:cNvSpPr/>
          <p:nvPr/>
        </p:nvSpPr>
        <p:spPr>
          <a:xfrm>
            <a:off x="10668000" y="5410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2FE51E82-28E0-4D7B-E8CD-C242AF889258}"/>
              </a:ext>
            </a:extLst>
          </p:cNvPr>
          <p:cNvSpPr/>
          <p:nvPr/>
        </p:nvSpPr>
        <p:spPr>
          <a:xfrm>
            <a:off x="10998200" y="228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99E302D0-AD29-6C2E-7069-3081C6F2CB25}"/>
              </a:ext>
            </a:extLst>
          </p:cNvPr>
          <p:cNvSpPr/>
          <p:nvPr/>
        </p:nvSpPr>
        <p:spPr>
          <a:xfrm>
            <a:off x="10998200" y="1092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14951BB5-544B-9926-574C-524A895FFFC5}"/>
              </a:ext>
            </a:extLst>
          </p:cNvPr>
          <p:cNvSpPr/>
          <p:nvPr/>
        </p:nvSpPr>
        <p:spPr>
          <a:xfrm>
            <a:off x="10998200" y="19558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399C896-D9AA-D751-7149-EEBE38F86729}"/>
              </a:ext>
            </a:extLst>
          </p:cNvPr>
          <p:cNvSpPr/>
          <p:nvPr/>
        </p:nvSpPr>
        <p:spPr>
          <a:xfrm>
            <a:off x="10998200" y="28194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B1850A4-1D35-0A70-570A-BA0860D12CFB}"/>
              </a:ext>
            </a:extLst>
          </p:cNvPr>
          <p:cNvSpPr/>
          <p:nvPr/>
        </p:nvSpPr>
        <p:spPr>
          <a:xfrm>
            <a:off x="10998200" y="36830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ABE9EC57-F831-578D-F106-0A3901E70496}"/>
              </a:ext>
            </a:extLst>
          </p:cNvPr>
          <p:cNvSpPr/>
          <p:nvPr/>
        </p:nvSpPr>
        <p:spPr>
          <a:xfrm>
            <a:off x="10998200" y="4546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9888A279-5E0D-44DF-4F45-65407008CF3A}"/>
              </a:ext>
            </a:extLst>
          </p:cNvPr>
          <p:cNvSpPr/>
          <p:nvPr/>
        </p:nvSpPr>
        <p:spPr>
          <a:xfrm>
            <a:off x="10998200" y="5410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A804229D-1ADC-3D2E-6E35-959DF5E5C2AB}"/>
              </a:ext>
            </a:extLst>
          </p:cNvPr>
          <p:cNvSpPr/>
          <p:nvPr/>
        </p:nvSpPr>
        <p:spPr>
          <a:xfrm>
            <a:off x="11328400" y="228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DDAA9531-A187-CBC8-A99E-C02CA9A57E37}"/>
              </a:ext>
            </a:extLst>
          </p:cNvPr>
          <p:cNvSpPr/>
          <p:nvPr/>
        </p:nvSpPr>
        <p:spPr>
          <a:xfrm>
            <a:off x="11328400" y="1092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25DE117-C5E5-2276-8C99-5F19AEE6592E}"/>
              </a:ext>
            </a:extLst>
          </p:cNvPr>
          <p:cNvSpPr/>
          <p:nvPr/>
        </p:nvSpPr>
        <p:spPr>
          <a:xfrm>
            <a:off x="11328400" y="19558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13386C00-1178-FDA0-3E37-54E4DF3CBCE9}"/>
              </a:ext>
            </a:extLst>
          </p:cNvPr>
          <p:cNvSpPr/>
          <p:nvPr/>
        </p:nvSpPr>
        <p:spPr>
          <a:xfrm>
            <a:off x="11328400" y="28194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4ABFEBAD-CA3D-6F3B-577F-4CEC9C997B6C}"/>
              </a:ext>
            </a:extLst>
          </p:cNvPr>
          <p:cNvSpPr/>
          <p:nvPr/>
        </p:nvSpPr>
        <p:spPr>
          <a:xfrm>
            <a:off x="11328400" y="36830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FED36E40-DF10-EADD-D5D9-EFBA5F9A3CAB}"/>
              </a:ext>
            </a:extLst>
          </p:cNvPr>
          <p:cNvSpPr/>
          <p:nvPr/>
        </p:nvSpPr>
        <p:spPr>
          <a:xfrm>
            <a:off x="11328400" y="4546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4D8F01A1-3CF9-078C-006C-EE5115A80E67}"/>
              </a:ext>
            </a:extLst>
          </p:cNvPr>
          <p:cNvSpPr/>
          <p:nvPr/>
        </p:nvSpPr>
        <p:spPr>
          <a:xfrm>
            <a:off x="11328400" y="5410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72043BDE-9071-AC94-DAE7-FA510AFF538C}"/>
              </a:ext>
            </a:extLst>
          </p:cNvPr>
          <p:cNvSpPr/>
          <p:nvPr/>
        </p:nvSpPr>
        <p:spPr>
          <a:xfrm>
            <a:off x="11658600" y="228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C4EE0031-4514-0243-8BF7-99DCCF2931AC}"/>
              </a:ext>
            </a:extLst>
          </p:cNvPr>
          <p:cNvSpPr/>
          <p:nvPr/>
        </p:nvSpPr>
        <p:spPr>
          <a:xfrm>
            <a:off x="11658600" y="1092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34E062CF-A73D-F599-B300-64007097E4AD}"/>
              </a:ext>
            </a:extLst>
          </p:cNvPr>
          <p:cNvSpPr/>
          <p:nvPr/>
        </p:nvSpPr>
        <p:spPr>
          <a:xfrm>
            <a:off x="11658600" y="19558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1228C986-984E-E799-DA08-579E5CA0E5FC}"/>
              </a:ext>
            </a:extLst>
          </p:cNvPr>
          <p:cNvSpPr/>
          <p:nvPr/>
        </p:nvSpPr>
        <p:spPr>
          <a:xfrm>
            <a:off x="11658600" y="28194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83A97B3C-DA67-71C4-23F5-CDB026C36B85}"/>
              </a:ext>
            </a:extLst>
          </p:cNvPr>
          <p:cNvSpPr/>
          <p:nvPr/>
        </p:nvSpPr>
        <p:spPr>
          <a:xfrm>
            <a:off x="11658600" y="36830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5EAAB371-ECAD-05F9-4AA2-7E6D5BBDDD6D}"/>
              </a:ext>
            </a:extLst>
          </p:cNvPr>
          <p:cNvSpPr/>
          <p:nvPr/>
        </p:nvSpPr>
        <p:spPr>
          <a:xfrm>
            <a:off x="11658600" y="4546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827CFDCF-C571-74C6-4510-9E186932511D}"/>
              </a:ext>
            </a:extLst>
          </p:cNvPr>
          <p:cNvSpPr/>
          <p:nvPr/>
        </p:nvSpPr>
        <p:spPr>
          <a:xfrm>
            <a:off x="11658600" y="5410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D792566F-4357-C8C8-FC07-B90ABA1828F4}"/>
              </a:ext>
            </a:extLst>
          </p:cNvPr>
          <p:cNvSpPr/>
          <p:nvPr/>
        </p:nvSpPr>
        <p:spPr>
          <a:xfrm>
            <a:off x="11988800" y="228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B74628EB-7E7F-559E-3001-EE2AA12021D3}"/>
              </a:ext>
            </a:extLst>
          </p:cNvPr>
          <p:cNvSpPr/>
          <p:nvPr/>
        </p:nvSpPr>
        <p:spPr>
          <a:xfrm>
            <a:off x="11988800" y="1092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57ED5AD6-B544-0680-6A2F-16528BEB644F}"/>
              </a:ext>
            </a:extLst>
          </p:cNvPr>
          <p:cNvSpPr/>
          <p:nvPr/>
        </p:nvSpPr>
        <p:spPr>
          <a:xfrm>
            <a:off x="11988800" y="19558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253F7C99-A19A-1282-9DA3-AB823451D4B3}"/>
              </a:ext>
            </a:extLst>
          </p:cNvPr>
          <p:cNvSpPr/>
          <p:nvPr/>
        </p:nvSpPr>
        <p:spPr>
          <a:xfrm>
            <a:off x="11988800" y="28194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AD7D1194-6B37-093A-38A9-0E2E387DE059}"/>
              </a:ext>
            </a:extLst>
          </p:cNvPr>
          <p:cNvSpPr/>
          <p:nvPr/>
        </p:nvSpPr>
        <p:spPr>
          <a:xfrm>
            <a:off x="11988800" y="36830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D9D6A365-1858-2861-51C5-ADCE77AC7351}"/>
              </a:ext>
            </a:extLst>
          </p:cNvPr>
          <p:cNvSpPr/>
          <p:nvPr/>
        </p:nvSpPr>
        <p:spPr>
          <a:xfrm>
            <a:off x="11988800" y="45466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46463C7F-0276-5290-F406-1AEBCAFA037F}"/>
              </a:ext>
            </a:extLst>
          </p:cNvPr>
          <p:cNvSpPr/>
          <p:nvPr/>
        </p:nvSpPr>
        <p:spPr>
          <a:xfrm>
            <a:off x="11988800" y="5410200"/>
            <a:ext cx="635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40E5E877-1D95-0916-BF41-F1636C468168}"/>
              </a:ext>
            </a:extLst>
          </p:cNvPr>
          <p:cNvSpPr/>
          <p:nvPr/>
        </p:nvSpPr>
        <p:spPr>
          <a:xfrm>
            <a:off x="10160000" y="-1016000"/>
            <a:ext cx="2794000" cy="2794000"/>
          </a:xfrm>
          <a:prstGeom prst="ellipse">
            <a:avLst/>
          </a:prstGeom>
          <a:solidFill>
            <a:srgbClr val="1E37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21B539F8-7798-03DB-5A5D-9F749CCB3500}"/>
              </a:ext>
            </a:extLst>
          </p:cNvPr>
          <p:cNvSpPr txBox="1"/>
          <p:nvPr/>
        </p:nvSpPr>
        <p:spPr>
          <a:xfrm>
            <a:off x="457200" y="508000"/>
            <a:ext cx="863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6496DC"/>
                </a:solidFill>
                <a:latin typeface="Calibri" panose="020F0502020204030204" pitchFamily="34" charset="0"/>
              </a:rPr>
              <a:t>UNIVERSIDAD DE CUENCA  |  FACULTAD DE INGENIERIA</a:t>
            </a:r>
            <a:endParaRPr lang="en-US" sz="1200">
              <a:solidFill>
                <a:srgbClr val="6496DC"/>
              </a:solidFill>
              <a:latin typeface="Calibri" panose="020F0502020204030204" pitchFamily="34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AB5FF3DD-8621-FF3E-21A2-44521E747F54}"/>
              </a:ext>
            </a:extLst>
          </p:cNvPr>
          <p:cNvSpPr txBox="1"/>
          <p:nvPr/>
        </p:nvSpPr>
        <p:spPr>
          <a:xfrm>
            <a:off x="457200" y="1066800"/>
            <a:ext cx="8382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0" b="1">
                <a:solidFill>
                  <a:srgbClr val="FFFFFF"/>
                </a:solidFill>
                <a:latin typeface="Calibri" panose="020F0502020204030204" pitchFamily="34" charset="0"/>
              </a:rPr>
              <a:t>CheckBefore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10624E9F-CA95-C744-1BE5-BEC186972B2E}"/>
              </a:ext>
            </a:extLst>
          </p:cNvPr>
          <p:cNvSpPr txBox="1"/>
          <p:nvPr/>
        </p:nvSpPr>
        <p:spPr>
          <a:xfrm>
            <a:off x="457200" y="2438400"/>
            <a:ext cx="8128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100" i="1">
                <a:solidFill>
                  <a:srgbClr val="96BEF5"/>
                </a:solidFill>
                <a:latin typeface="Calibri" panose="020F0502020204030204" pitchFamily="34" charset="0"/>
              </a:rPr>
              <a:t>Sistema de Analitica del Aprendizaje para el
Soporte a Decisiones Pedagogicas en Moodle</a:t>
            </a:r>
            <a:endParaRPr lang="en-US" sz="2100" i="1">
              <a:solidFill>
                <a:srgbClr val="96BEF5"/>
              </a:solidFill>
              <a:latin typeface="Calibri" panose="020F0502020204030204" pitchFamily="34" charset="0"/>
            </a:endParaRP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46A78602-FD13-EB40-CB15-17721476755D}"/>
              </a:ext>
            </a:extLst>
          </p:cNvPr>
          <p:cNvSpPr/>
          <p:nvPr/>
        </p:nvSpPr>
        <p:spPr>
          <a:xfrm>
            <a:off x="457200" y="3556000"/>
            <a:ext cx="6604000" cy="381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588BD2CC-39A9-B8FA-6D6B-587CEE0C2EB0}"/>
              </a:ext>
            </a:extLst>
          </p:cNvPr>
          <p:cNvSpPr/>
          <p:nvPr/>
        </p:nvSpPr>
        <p:spPr>
          <a:xfrm>
            <a:off x="457200" y="3835400"/>
            <a:ext cx="5842000" cy="711200"/>
          </a:xfrm>
          <a:prstGeom prst="rect">
            <a:avLst/>
          </a:prstGeom>
          <a:solidFill>
            <a:srgbClr val="1E37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D82A72E1-B8BA-2A23-7E9E-FE2C7C1B9530}"/>
              </a:ext>
            </a:extLst>
          </p:cNvPr>
          <p:cNvSpPr txBox="1"/>
          <p:nvPr/>
        </p:nvSpPr>
        <p:spPr>
          <a:xfrm>
            <a:off x="609600" y="39370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Xavier Pena   |   Joseph Salamea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2CC84080-5832-16E2-EA0F-974032B91E2F}"/>
              </a:ext>
            </a:extLst>
          </p:cNvPr>
          <p:cNvSpPr txBox="1"/>
          <p:nvPr/>
        </p:nvSpPr>
        <p:spPr>
          <a:xfrm>
            <a:off x="609600" y="4318000"/>
            <a:ext cx="558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300">
                <a:solidFill>
                  <a:srgbClr val="82AAE6"/>
                </a:solidFill>
                <a:latin typeface="Calibri" panose="020F0502020204030204" pitchFamily="34" charset="0"/>
              </a:rPr>
              <a:t>Ciencia de Datos  -  Unidad 2: Learning Analytics  |  Octubre 2026</a:t>
            </a:r>
            <a:endParaRPr lang="en-US" sz="1300">
              <a:solidFill>
                <a:srgbClr val="82AAE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197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918C513-572C-09DA-FDDA-4DDA3475A114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220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A21E3E-D2D4-8DC4-684A-DE1B29A56FF6}"/>
              </a:ext>
            </a:extLst>
          </p:cNvPr>
          <p:cNvSpPr/>
          <p:nvPr/>
        </p:nvSpPr>
        <p:spPr>
          <a:xfrm>
            <a:off x="0" y="1168400"/>
            <a:ext cx="12192000" cy="508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67AA8DE-14E3-5DDA-978E-76C297FCB2D1}"/>
              </a:ext>
            </a:extLst>
          </p:cNvPr>
          <p:cNvSpPr txBox="1"/>
          <p:nvPr/>
        </p:nvSpPr>
        <p:spPr>
          <a:xfrm>
            <a:off x="558800" y="127000"/>
            <a:ext cx="11074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Calibri" panose="020F0502020204030204" pitchFamily="34" charset="0"/>
              </a:rPr>
              <a:t>El Problema Educativo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93AF9AE-5E58-E7D2-4091-907E0527552B}"/>
              </a:ext>
            </a:extLst>
          </p:cNvPr>
          <p:cNvSpPr txBox="1"/>
          <p:nvPr/>
        </p:nvSpPr>
        <p:spPr>
          <a:xfrm>
            <a:off x="558800" y="711200"/>
            <a:ext cx="11074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i="1">
                <a:solidFill>
                  <a:srgbClr val="AAC8F0"/>
                </a:solidFill>
                <a:latin typeface="Calibri" panose="020F0502020204030204" pitchFamily="34" charset="0"/>
              </a:rPr>
              <a:t>Procrastinacion critica y falta de visibilidad analitica en primeros ciclos</a:t>
            </a:r>
            <a:endParaRPr lang="en-US" sz="1600" i="1">
              <a:solidFill>
                <a:srgbClr val="AAC8F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C82F582-16FC-573D-A5B6-455341F0A84C}"/>
              </a:ext>
            </a:extLst>
          </p:cNvPr>
          <p:cNvSpPr/>
          <p:nvPr/>
        </p:nvSpPr>
        <p:spPr>
          <a:xfrm>
            <a:off x="11684000" y="0"/>
            <a:ext cx="508000" cy="5080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F710529-0373-3F6C-8FA4-7459821480C0}"/>
              </a:ext>
            </a:extLst>
          </p:cNvPr>
          <p:cNvSpPr/>
          <p:nvPr/>
        </p:nvSpPr>
        <p:spPr>
          <a:xfrm>
            <a:off x="508000" y="1371600"/>
            <a:ext cx="5334000" cy="4013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4293E9-AF14-B1A6-6E94-31729F1B626B}"/>
              </a:ext>
            </a:extLst>
          </p:cNvPr>
          <p:cNvSpPr/>
          <p:nvPr/>
        </p:nvSpPr>
        <p:spPr>
          <a:xfrm>
            <a:off x="508000" y="1371600"/>
            <a:ext cx="63500" cy="4013200"/>
          </a:xfrm>
          <a:prstGeom prst="rect">
            <a:avLst/>
          </a:prstGeom>
          <a:solidFill>
            <a:srgbClr val="DC35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38C7D42-76BE-76F8-4F4B-271F4DF62F61}"/>
              </a:ext>
            </a:extLst>
          </p:cNvPr>
          <p:cNvSpPr txBox="1"/>
          <p:nvPr/>
        </p:nvSpPr>
        <p:spPr>
          <a:xfrm>
            <a:off x="685800" y="1524000"/>
            <a:ext cx="508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DC3545"/>
                </a:solidFill>
                <a:latin typeface="Calibri" panose="020F0502020204030204" pitchFamily="34" charset="0"/>
              </a:rPr>
              <a:t>EL PROBLEMA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9E2AEA3-DB83-0BB1-5779-C92516F059B9}"/>
              </a:ext>
            </a:extLst>
          </p:cNvPr>
          <p:cNvSpPr txBox="1"/>
          <p:nvPr/>
        </p:nvSpPr>
        <p:spPr>
          <a:xfrm>
            <a:off x="685800" y="1930400"/>
            <a:ext cx="5080000" cy="147732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1E2841"/>
                </a:solidFill>
                <a:latin typeface="Calibri" panose="020F0502020204030204" pitchFamily="34" charset="0"/>
              </a:rPr>
              <a:t>En asignaturas de primeros ciclos (35-50 alumnos), los estudiantes abren las tareas entre 3 y 5 horas antes del cierre sin haber revisado guias, lecturas clave ni videos formativos.
Resultado: entregas incompletas, notas bajas y oportunidades de retroalimentacion perdidas.</a:t>
            </a:r>
            <a:endParaRPr lang="en-US" sz="1600">
              <a:solidFill>
                <a:srgbClr val="1E284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07311B0-4F12-AF7E-A189-CFC9F963ACFC}"/>
              </a:ext>
            </a:extLst>
          </p:cNvPr>
          <p:cNvSpPr/>
          <p:nvPr/>
        </p:nvSpPr>
        <p:spPr>
          <a:xfrm>
            <a:off x="6350000" y="1371600"/>
            <a:ext cx="5334000" cy="4013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2DD7C54-B980-2420-3729-A4AE91E1B3A3}"/>
              </a:ext>
            </a:extLst>
          </p:cNvPr>
          <p:cNvSpPr/>
          <p:nvPr/>
        </p:nvSpPr>
        <p:spPr>
          <a:xfrm>
            <a:off x="6350000" y="1371600"/>
            <a:ext cx="63500" cy="4013200"/>
          </a:xfrm>
          <a:prstGeom prst="rect">
            <a:avLst/>
          </a:prstGeom>
          <a:solidFill>
            <a:srgbClr val="FFA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81BEABD-BEC5-1784-DC5B-8B65E805FCF7}"/>
              </a:ext>
            </a:extLst>
          </p:cNvPr>
          <p:cNvSpPr txBox="1"/>
          <p:nvPr/>
        </p:nvSpPr>
        <p:spPr>
          <a:xfrm>
            <a:off x="6527800" y="1524000"/>
            <a:ext cx="508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A000"/>
                </a:solidFill>
                <a:latin typeface="Calibri" panose="020F0502020204030204" pitchFamily="34" charset="0"/>
              </a:rPr>
              <a:t>DECISION A CIEGAS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32629EA-92D7-0895-A759-F5D91B552C7B}"/>
              </a:ext>
            </a:extLst>
          </p:cNvPr>
          <p:cNvSpPr txBox="1"/>
          <p:nvPr/>
        </p:nvSpPr>
        <p:spPr>
          <a:xfrm>
            <a:off x="6527800" y="1930400"/>
            <a:ext cx="5080000" cy="147732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1E2841"/>
                </a:solidFill>
                <a:latin typeface="Calibri" panose="020F0502020204030204" pitchFamily="34" charset="0"/>
              </a:rPr>
              <a:t>El docente debe decidir a quienes orientar o convocar a tutoria ANTES del vencimiento del plazo.
Actualmente lo hace sin datos: espera al cierre del calificador para constatar quienes no entregaron. En ese punto, la oportunidad pedagogica ya se perdio.</a:t>
            </a:r>
            <a:endParaRPr lang="en-US" sz="1600">
              <a:solidFill>
                <a:srgbClr val="1E284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F20AF5E-6FFE-9521-2DE2-30DC44A64D78}"/>
              </a:ext>
            </a:extLst>
          </p:cNvPr>
          <p:cNvSpPr/>
          <p:nvPr/>
        </p:nvSpPr>
        <p:spPr>
          <a:xfrm>
            <a:off x="508000" y="5537200"/>
            <a:ext cx="11176000" cy="889000"/>
          </a:xfrm>
          <a:prstGeom prst="rect">
            <a:avLst/>
          </a:prstGeom>
          <a:solidFill>
            <a:srgbClr val="0E1A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28D4E36-25EB-69AF-FF6C-7B8F14981F03}"/>
              </a:ext>
            </a:extLst>
          </p:cNvPr>
          <p:cNvSpPr txBox="1"/>
          <p:nvPr/>
        </p:nvSpPr>
        <p:spPr>
          <a:xfrm>
            <a:off x="711200" y="5664200"/>
            <a:ext cx="10769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i="1">
                <a:solidFill>
                  <a:srgbClr val="A0CDFF"/>
                </a:solidFill>
                <a:latin typeface="Calibri" panose="020F0502020204030204" pitchFamily="34" charset="0"/>
              </a:rPr>
              <a:t>«En que medida el nivel de consulta previa de los recursos permite predecir el riesgo de no entrega 48 horas antes de la fecha limite?»</a:t>
            </a:r>
            <a:endParaRPr lang="en-US" sz="1600" i="1">
              <a:solidFill>
                <a:srgbClr val="A0CD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55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91F479D-EA4D-70CC-34DB-F3E01D39BAE2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220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BEA229E-24E4-23B8-147D-F07C8D1150D3}"/>
              </a:ext>
            </a:extLst>
          </p:cNvPr>
          <p:cNvSpPr/>
          <p:nvPr/>
        </p:nvSpPr>
        <p:spPr>
          <a:xfrm>
            <a:off x="0" y="1168400"/>
            <a:ext cx="12192000" cy="50800"/>
          </a:xfrm>
          <a:prstGeom prst="rect">
            <a:avLst/>
          </a:prstGeom>
          <a:solidFill>
            <a:srgbClr val="00B9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7844E5-C68B-9B29-3D1B-E638DFF96505}"/>
              </a:ext>
            </a:extLst>
          </p:cNvPr>
          <p:cNvSpPr txBox="1"/>
          <p:nvPr/>
        </p:nvSpPr>
        <p:spPr>
          <a:xfrm>
            <a:off x="558800" y="127000"/>
            <a:ext cx="11074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3000" b="1">
                <a:solidFill>
                  <a:srgbClr val="FFFFFF"/>
                </a:solidFill>
                <a:latin typeface="Calibri" panose="020F0502020204030204" pitchFamily="34" charset="0"/>
              </a:rPr>
              <a:t>Fuentes de Datos e Infraestructura Etica</a:t>
            </a:r>
            <a:endParaRPr lang="en-US" sz="3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409A440-82A2-CE46-2460-E02F8DEC95FF}"/>
              </a:ext>
            </a:extLst>
          </p:cNvPr>
          <p:cNvSpPr txBox="1"/>
          <p:nvPr/>
        </p:nvSpPr>
        <p:spPr>
          <a:xfrm>
            <a:off x="558800" y="711200"/>
            <a:ext cx="11074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i="1">
                <a:solidFill>
                  <a:srgbClr val="82DCC8"/>
                </a:solidFill>
                <a:latin typeface="Calibri" panose="020F0502020204030204" pitchFamily="34" charset="0"/>
              </a:rPr>
              <a:t>Registros existentes en Moodle con privacidad por diseno</a:t>
            </a:r>
            <a:endParaRPr lang="en-US" sz="1600" i="1">
              <a:solidFill>
                <a:srgbClr val="82DCC8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3E4A8F9-611D-FD62-F2A0-784A1EB46A3D}"/>
              </a:ext>
            </a:extLst>
          </p:cNvPr>
          <p:cNvSpPr/>
          <p:nvPr/>
        </p:nvSpPr>
        <p:spPr>
          <a:xfrm>
            <a:off x="11684000" y="0"/>
            <a:ext cx="508000" cy="508000"/>
          </a:xfrm>
          <a:prstGeom prst="rect">
            <a:avLst/>
          </a:prstGeom>
          <a:solidFill>
            <a:srgbClr val="00B9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DD253E5-184D-11AB-2B87-4561178B1C3D}"/>
              </a:ext>
            </a:extLst>
          </p:cNvPr>
          <p:cNvSpPr/>
          <p:nvPr/>
        </p:nvSpPr>
        <p:spPr>
          <a:xfrm>
            <a:off x="508000" y="1371600"/>
            <a:ext cx="5334000" cy="4013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261A627-EACE-FC91-814D-E3B06AE0AA84}"/>
              </a:ext>
            </a:extLst>
          </p:cNvPr>
          <p:cNvSpPr/>
          <p:nvPr/>
        </p:nvSpPr>
        <p:spPr>
          <a:xfrm>
            <a:off x="508000" y="1371600"/>
            <a:ext cx="63500" cy="40132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6D7E0CE-DF45-851E-9AC2-FE292108D126}"/>
              </a:ext>
            </a:extLst>
          </p:cNvPr>
          <p:cNvSpPr txBox="1"/>
          <p:nvPr/>
        </p:nvSpPr>
        <p:spPr>
          <a:xfrm>
            <a:off x="685800" y="1524000"/>
            <a:ext cx="508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 b="1">
                <a:solidFill>
                  <a:srgbClr val="3478F6"/>
                </a:solidFill>
                <a:latin typeface="Calibri" panose="020F0502020204030204" pitchFamily="34" charset="0"/>
              </a:rPr>
              <a:t>TABLAS DE MOODLE (UCuenca)</a:t>
            </a:r>
            <a:endParaRPr lang="en-US" sz="1200" b="1">
              <a:solidFill>
                <a:srgbClr val="3478F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212B5D3-ACD9-4AAB-D588-ACBD07DDA4F5}"/>
              </a:ext>
            </a:extLst>
          </p:cNvPr>
          <p:cNvSpPr txBox="1"/>
          <p:nvPr/>
        </p:nvSpPr>
        <p:spPr>
          <a:xfrm>
            <a:off x="685800" y="1930400"/>
            <a:ext cx="5080000" cy="196977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1E2841"/>
                </a:solidFill>
                <a:latin typeface="Calibri" panose="020F0502020204030204" pitchFamily="34" charset="0"/>
              </a:rPr>
              <a:t>mdl_logstore_standard_log
  →  Eventos viewed y downloaded sobre recursos
mdl_assign / mdl_assign_submission
  →  Fechas limite y estado de envio
mdl_resource / mdl_url / mdl_page
  →  Catalogo de materiales formativos de la semana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995F745-052A-ED83-89B4-CC0D2508B4EB}"/>
              </a:ext>
            </a:extLst>
          </p:cNvPr>
          <p:cNvSpPr/>
          <p:nvPr/>
        </p:nvSpPr>
        <p:spPr>
          <a:xfrm>
            <a:off x="6350000" y="1371600"/>
            <a:ext cx="5334000" cy="4013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723FB83-F680-96C8-7377-FF8790E9697F}"/>
              </a:ext>
            </a:extLst>
          </p:cNvPr>
          <p:cNvSpPr/>
          <p:nvPr/>
        </p:nvSpPr>
        <p:spPr>
          <a:xfrm>
            <a:off x="6350000" y="1371600"/>
            <a:ext cx="63500" cy="4013200"/>
          </a:xfrm>
          <a:prstGeom prst="rect">
            <a:avLst/>
          </a:prstGeom>
          <a:solidFill>
            <a:srgbClr val="00B9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094432-1498-3C75-008D-C29477688F48}"/>
              </a:ext>
            </a:extLst>
          </p:cNvPr>
          <p:cNvSpPr txBox="1"/>
          <p:nvPr/>
        </p:nvSpPr>
        <p:spPr>
          <a:xfrm>
            <a:off x="6527800" y="1524000"/>
            <a:ext cx="508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 b="1">
                <a:solidFill>
                  <a:srgbClr val="00B99B"/>
                </a:solidFill>
                <a:latin typeface="Calibri" panose="020F0502020204030204" pitchFamily="34" charset="0"/>
              </a:rPr>
              <a:t>GARANTIAS ETICAS Y DE PRIVACIDAD</a:t>
            </a:r>
            <a:endParaRPr lang="en-US" sz="1200" b="1">
              <a:solidFill>
                <a:srgbClr val="00B99B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C0F5E3-0BBA-0FBF-37B4-58D6760AD47D}"/>
              </a:ext>
            </a:extLst>
          </p:cNvPr>
          <p:cNvSpPr txBox="1"/>
          <p:nvPr/>
        </p:nvSpPr>
        <p:spPr>
          <a:xfrm>
            <a:off x="6527800" y="1930400"/>
            <a:ext cx="5080000" cy="196977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1E2841"/>
                </a:solidFill>
                <a:latin typeface="Calibri" panose="020F0502020204030204" pitchFamily="34" charset="0"/>
              </a:rPr>
              <a:t>Anonimizacion  →  IDs con hash SHA-256 irreversible
Brecha offline  →  Descarga vale como consulta efectiva
No punitivo  →  Indicador formativo; no afecta notas
Acceso por rol  →  Docente ve su paralelo; alumno solo sus datos</a:t>
            </a:r>
            <a:endParaRPr lang="en-US" sz="1600">
              <a:solidFill>
                <a:srgbClr val="1E284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1FC2BBF-22CB-0E00-05FB-9DFCD899473B}"/>
              </a:ext>
            </a:extLst>
          </p:cNvPr>
          <p:cNvSpPr/>
          <p:nvPr/>
        </p:nvSpPr>
        <p:spPr>
          <a:xfrm>
            <a:off x="508000" y="5537200"/>
            <a:ext cx="11176000" cy="889000"/>
          </a:xfrm>
          <a:prstGeom prst="rect">
            <a:avLst/>
          </a:prstGeom>
          <a:solidFill>
            <a:srgbClr val="F0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979967B-FB30-BA8E-3675-CA19EFB600B4}"/>
              </a:ext>
            </a:extLst>
          </p:cNvPr>
          <p:cNvSpPr txBox="1"/>
          <p:nvPr/>
        </p:nvSpPr>
        <p:spPr>
          <a:xfrm>
            <a:off x="711200" y="57150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 i="1">
                <a:solidFill>
                  <a:srgbClr val="3C5078"/>
                </a:solidFill>
                <a:latin typeface="Calibri" panose="020F0502020204030204" pitchFamily="34" charset="0"/>
              </a:rPr>
              <a:t>Todos los datos provienen de la infraestructura institucional existente. No se requieren datos adicionales ni sensibles.</a:t>
            </a:r>
            <a:endParaRPr lang="en-US" sz="1500" i="1">
              <a:solidFill>
                <a:srgbClr val="3C507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125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8B4C6D6-98F3-7598-EEE6-5B3EB44CB5BF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220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E3818BF-C2EA-EC5A-EC38-F81B942617E5}"/>
              </a:ext>
            </a:extLst>
          </p:cNvPr>
          <p:cNvSpPr/>
          <p:nvPr/>
        </p:nvSpPr>
        <p:spPr>
          <a:xfrm>
            <a:off x="0" y="1168400"/>
            <a:ext cx="12192000" cy="508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862AF50-B3EC-3E12-5DF2-15C6D90897A3}"/>
              </a:ext>
            </a:extLst>
          </p:cNvPr>
          <p:cNvSpPr txBox="1"/>
          <p:nvPr/>
        </p:nvSpPr>
        <p:spPr>
          <a:xfrm>
            <a:off x="558800" y="127000"/>
            <a:ext cx="11074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3000" b="1">
                <a:solidFill>
                  <a:srgbClr val="FFFFFF"/>
                </a:solidFill>
                <a:latin typeface="Calibri" panose="020F0502020204030204" pitchFamily="34" charset="0"/>
              </a:rPr>
              <a:t>Indicador Central: IPP y Semaforo de Riesgo</a:t>
            </a:r>
            <a:endParaRPr lang="en-US" sz="3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A7648E-1CB0-FC23-6397-9E2638DB2866}"/>
              </a:ext>
            </a:extLst>
          </p:cNvPr>
          <p:cNvSpPr txBox="1"/>
          <p:nvPr/>
        </p:nvSpPr>
        <p:spPr>
          <a:xfrm>
            <a:off x="558800" y="711200"/>
            <a:ext cx="11074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i="1">
                <a:solidFill>
                  <a:srgbClr val="AAC8F0"/>
                </a:solidFill>
                <a:latin typeface="Calibri" panose="020F0502020204030204" pitchFamily="34" charset="0"/>
              </a:rPr>
              <a:t>Cuantificacion de preparacion formativa previa a la fecha limite</a:t>
            </a:r>
            <a:endParaRPr lang="en-US" sz="1600" i="1">
              <a:solidFill>
                <a:srgbClr val="AAC8F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EE2A4D7-FE27-3EEC-698D-58103EF46443}"/>
              </a:ext>
            </a:extLst>
          </p:cNvPr>
          <p:cNvSpPr/>
          <p:nvPr/>
        </p:nvSpPr>
        <p:spPr>
          <a:xfrm>
            <a:off x="11684000" y="0"/>
            <a:ext cx="508000" cy="5080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5BA219-926E-2829-3FA4-04AC49DE43C3}"/>
              </a:ext>
            </a:extLst>
          </p:cNvPr>
          <p:cNvSpPr/>
          <p:nvPr/>
        </p:nvSpPr>
        <p:spPr>
          <a:xfrm>
            <a:off x="508000" y="1371600"/>
            <a:ext cx="11176000" cy="1092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C7E5A6D-E69C-C7B2-8A83-28666DC0ACDE}"/>
              </a:ext>
            </a:extLst>
          </p:cNvPr>
          <p:cNvSpPr/>
          <p:nvPr/>
        </p:nvSpPr>
        <p:spPr>
          <a:xfrm>
            <a:off x="508000" y="1371600"/>
            <a:ext cx="63500" cy="10922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BCEBF46-81B7-7D39-DBA1-7AD8CCC747CC}"/>
              </a:ext>
            </a:extLst>
          </p:cNvPr>
          <p:cNvSpPr txBox="1"/>
          <p:nvPr/>
        </p:nvSpPr>
        <p:spPr>
          <a:xfrm>
            <a:off x="711200" y="1473200"/>
            <a:ext cx="1092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478F6"/>
                </a:solidFill>
                <a:latin typeface="Calibri" panose="020F0502020204030204" pitchFamily="34" charset="0"/>
              </a:rPr>
              <a:t>INDICE DE PREPARACION PREVIA (IPP)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F3D16B9-4ADA-8E59-9569-5F77016E2044}"/>
              </a:ext>
            </a:extLst>
          </p:cNvPr>
          <p:cNvSpPr txBox="1"/>
          <p:nvPr/>
        </p:nvSpPr>
        <p:spPr>
          <a:xfrm>
            <a:off x="711200" y="1854200"/>
            <a:ext cx="1092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0E1A36"/>
                </a:solidFill>
                <a:latin typeface="Calibri" panose="020F0502020204030204" pitchFamily="34" charset="0"/>
              </a:rPr>
              <a:t>IPP  =  ( Recursos clave consultados  /  Total de recursos clave asignados )  x  100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128EB31-680D-4A5F-D068-8B0C0E8A64E9}"/>
              </a:ext>
            </a:extLst>
          </p:cNvPr>
          <p:cNvSpPr txBox="1"/>
          <p:nvPr/>
        </p:nvSpPr>
        <p:spPr>
          <a:xfrm>
            <a:off x="711200" y="2349500"/>
            <a:ext cx="1092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300" i="1">
                <a:solidFill>
                  <a:srgbClr val="6478A0"/>
                </a:solidFill>
                <a:latin typeface="Calibri" panose="020F0502020204030204" pitchFamily="34" charset="0"/>
              </a:rPr>
              <a:t>Ventana: interacciones ocurridas hasta 48 h antes del due_date</a:t>
            </a:r>
            <a:endParaRPr lang="en-US" sz="1300" i="1">
              <a:solidFill>
                <a:srgbClr val="6478A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7B21417-4E40-0D72-5789-C4F6A12F154E}"/>
              </a:ext>
            </a:extLst>
          </p:cNvPr>
          <p:cNvSpPr/>
          <p:nvPr/>
        </p:nvSpPr>
        <p:spPr>
          <a:xfrm>
            <a:off x="508000" y="2692400"/>
            <a:ext cx="3403600" cy="3302000"/>
          </a:xfrm>
          <a:prstGeom prst="rect">
            <a:avLst/>
          </a:prstGeom>
          <a:solidFill>
            <a:srgbClr val="28A7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1CDF50-48E0-B826-082F-24541D209C65}"/>
              </a:ext>
            </a:extLst>
          </p:cNvPr>
          <p:cNvSpPr txBox="1"/>
          <p:nvPr/>
        </p:nvSpPr>
        <p:spPr>
          <a:xfrm>
            <a:off x="660400" y="2870200"/>
            <a:ext cx="3098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VERDE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8B8BCE4-2D9F-1CF2-3DF0-269973B70A7B}"/>
              </a:ext>
            </a:extLst>
          </p:cNvPr>
          <p:cNvSpPr txBox="1"/>
          <p:nvPr/>
        </p:nvSpPr>
        <p:spPr>
          <a:xfrm>
            <a:off x="660400" y="3352800"/>
            <a:ext cx="30988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700" b="1">
                <a:solidFill>
                  <a:srgbClr val="FFFFFF"/>
                </a:solidFill>
                <a:latin typeface="Calibri" panose="020F0502020204030204" pitchFamily="34" charset="0"/>
              </a:rPr>
              <a:t>IPP ≥ 70%
o tarea ya entregada</a:t>
            </a:r>
            <a:endParaRPr lang="en-US" sz="17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724426C-5325-A351-914D-BD9A0799B910}"/>
              </a:ext>
            </a:extLst>
          </p:cNvPr>
          <p:cNvSpPr/>
          <p:nvPr/>
        </p:nvSpPr>
        <p:spPr>
          <a:xfrm>
            <a:off x="508000" y="4318000"/>
            <a:ext cx="3403600" cy="1676400"/>
          </a:xfrm>
          <a:prstGeom prst="rect">
            <a:avLst/>
          </a:prstGeom>
          <a:solidFill>
            <a:srgbClr val="50CF6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8B6EB49-822E-31CB-50F1-2E81D9B1C5EC}"/>
              </a:ext>
            </a:extLst>
          </p:cNvPr>
          <p:cNvSpPr txBox="1"/>
          <p:nvPr/>
        </p:nvSpPr>
        <p:spPr>
          <a:xfrm>
            <a:off x="660400" y="4419600"/>
            <a:ext cx="309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i="1">
                <a:solidFill>
                  <a:srgbClr val="1E1E1E"/>
                </a:solidFill>
                <a:latin typeface="Calibri" panose="020F0502020204030204" pitchFamily="34" charset="0"/>
              </a:rPr>
              <a:t>Preparacion suficiente. No se requiere accion urgente.</a:t>
            </a:r>
            <a:endParaRPr lang="en-US" sz="1400" i="1">
              <a:solidFill>
                <a:srgbClr val="1E1E1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B82E6-3F9B-671F-9F12-1FCC05B632E0}"/>
              </a:ext>
            </a:extLst>
          </p:cNvPr>
          <p:cNvSpPr/>
          <p:nvPr/>
        </p:nvSpPr>
        <p:spPr>
          <a:xfrm>
            <a:off x="4394200" y="2692400"/>
            <a:ext cx="3403600" cy="3302000"/>
          </a:xfrm>
          <a:prstGeom prst="rect">
            <a:avLst/>
          </a:prstGeom>
          <a:solidFill>
            <a:srgbClr val="D296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2A41F60-8486-5BE1-1660-3149F0901CBB}"/>
              </a:ext>
            </a:extLst>
          </p:cNvPr>
          <p:cNvSpPr txBox="1"/>
          <p:nvPr/>
        </p:nvSpPr>
        <p:spPr>
          <a:xfrm>
            <a:off x="4546600" y="2870200"/>
            <a:ext cx="3098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AMARILLO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9813A0D-C469-478B-E0FB-F2D0002D9197}"/>
              </a:ext>
            </a:extLst>
          </p:cNvPr>
          <p:cNvSpPr txBox="1"/>
          <p:nvPr/>
        </p:nvSpPr>
        <p:spPr>
          <a:xfrm>
            <a:off x="4546600" y="3352800"/>
            <a:ext cx="30988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Calibri" panose="020F0502020204030204" pitchFamily="34" charset="0"/>
              </a:rPr>
              <a:t>40% ≤ IPP &lt; 70%
sin entrega registrada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02FB732-92FF-25B2-A72A-1EBDF64739E3}"/>
              </a:ext>
            </a:extLst>
          </p:cNvPr>
          <p:cNvSpPr/>
          <p:nvPr/>
        </p:nvSpPr>
        <p:spPr>
          <a:xfrm>
            <a:off x="4394200" y="4318000"/>
            <a:ext cx="3403600" cy="1676400"/>
          </a:xfrm>
          <a:prstGeom prst="rect">
            <a:avLst/>
          </a:prstGeom>
          <a:solidFill>
            <a:srgbClr val="FABE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B205258-39F0-D04E-8DD6-5A8E23F6D85E}"/>
              </a:ext>
            </a:extLst>
          </p:cNvPr>
          <p:cNvSpPr txBox="1"/>
          <p:nvPr/>
        </p:nvSpPr>
        <p:spPr>
          <a:xfrm>
            <a:off x="4546600" y="4419600"/>
            <a:ext cx="309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i="1">
                <a:solidFill>
                  <a:srgbClr val="1E1E1E"/>
                </a:solidFill>
                <a:latin typeface="Calibri" panose="020F0502020204030204" pitchFamily="34" charset="0"/>
              </a:rPr>
              <a:t>Preparacion parcial. Se puede enviar un recordatorio de recursos.</a:t>
            </a:r>
            <a:endParaRPr lang="en-US" sz="1400" i="1">
              <a:solidFill>
                <a:srgbClr val="1E1E1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1AD737-D87E-11C9-3018-33787DAA5114}"/>
              </a:ext>
            </a:extLst>
          </p:cNvPr>
          <p:cNvSpPr/>
          <p:nvPr/>
        </p:nvSpPr>
        <p:spPr>
          <a:xfrm>
            <a:off x="8280400" y="2692400"/>
            <a:ext cx="3403600" cy="3302000"/>
          </a:xfrm>
          <a:prstGeom prst="rect">
            <a:avLst/>
          </a:prstGeom>
          <a:solidFill>
            <a:srgbClr val="C823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FC18839-01B7-4536-EF49-A8DC3D3937B7}"/>
              </a:ext>
            </a:extLst>
          </p:cNvPr>
          <p:cNvSpPr txBox="1"/>
          <p:nvPr/>
        </p:nvSpPr>
        <p:spPr>
          <a:xfrm>
            <a:off x="8432800" y="2870200"/>
            <a:ext cx="3098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ROJO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1C9135B-1A3F-77BA-7D15-180D3B4FD4E7}"/>
              </a:ext>
            </a:extLst>
          </p:cNvPr>
          <p:cNvSpPr txBox="1"/>
          <p:nvPr/>
        </p:nvSpPr>
        <p:spPr>
          <a:xfrm>
            <a:off x="8432800" y="3352800"/>
            <a:ext cx="30988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Calibri" panose="020F0502020204030204" pitchFamily="34" charset="0"/>
              </a:rPr>
              <a:t>IPP &lt; 40%
sin entrega registrada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00D1145-EFCB-D464-73D4-F16648969D1F}"/>
              </a:ext>
            </a:extLst>
          </p:cNvPr>
          <p:cNvSpPr/>
          <p:nvPr/>
        </p:nvSpPr>
        <p:spPr>
          <a:xfrm>
            <a:off x="8280400" y="4318000"/>
            <a:ext cx="3403600" cy="1676400"/>
          </a:xfrm>
          <a:prstGeom prst="rect">
            <a:avLst/>
          </a:prstGeom>
          <a:solidFill>
            <a:srgbClr val="F04B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88F7C45-736A-4579-C532-161C4275563D}"/>
              </a:ext>
            </a:extLst>
          </p:cNvPr>
          <p:cNvSpPr txBox="1"/>
          <p:nvPr/>
        </p:nvSpPr>
        <p:spPr>
          <a:xfrm>
            <a:off x="8432800" y="4419600"/>
            <a:ext cx="309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i="1">
                <a:solidFill>
                  <a:srgbClr val="1E1E1E"/>
                </a:solidFill>
                <a:latin typeface="Calibri" panose="020F0502020204030204" pitchFamily="34" charset="0"/>
              </a:rPr>
              <a:t>Riesgo critico. Intervencion docente inmediata recomendada.</a:t>
            </a:r>
            <a:endParaRPr lang="en-US" sz="1400" i="1">
              <a:solidFill>
                <a:srgbClr val="1E1E1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255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714D282-FE95-4924-3085-F7F2F67C2426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220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92F5DBB-94FC-0DE5-DC3F-5DCDB6998A9B}"/>
              </a:ext>
            </a:extLst>
          </p:cNvPr>
          <p:cNvSpPr/>
          <p:nvPr/>
        </p:nvSpPr>
        <p:spPr>
          <a:xfrm>
            <a:off x="0" y="1168400"/>
            <a:ext cx="12192000" cy="50800"/>
          </a:xfrm>
          <a:prstGeom prst="rect">
            <a:avLst/>
          </a:prstGeom>
          <a:solidFill>
            <a:srgbClr val="00B9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1107EE8-6908-E017-BE43-0AB45D13EDDC}"/>
              </a:ext>
            </a:extLst>
          </p:cNvPr>
          <p:cNvSpPr txBox="1"/>
          <p:nvPr/>
        </p:nvSpPr>
        <p:spPr>
          <a:xfrm>
            <a:off x="558800" y="127000"/>
            <a:ext cx="11074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3000" b="1">
                <a:solidFill>
                  <a:srgbClr val="FFFFFF"/>
                </a:solidFill>
                <a:latin typeface="Calibri" panose="020F0502020204030204" pitchFamily="34" charset="0"/>
              </a:rPr>
              <a:t>Diseno de Interfaz y Flujo de Intervencion</a:t>
            </a:r>
            <a:endParaRPr lang="en-US" sz="3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5B22CD-F48C-2386-A632-9538AD674ABC}"/>
              </a:ext>
            </a:extLst>
          </p:cNvPr>
          <p:cNvSpPr txBox="1"/>
          <p:nvPr/>
        </p:nvSpPr>
        <p:spPr>
          <a:xfrm>
            <a:off x="558800" y="711200"/>
            <a:ext cx="11074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i="1">
                <a:solidFill>
                  <a:srgbClr val="82DCC8"/>
                </a:solidFill>
                <a:latin typeface="Calibri" panose="020F0502020204030204" pitchFamily="34" charset="0"/>
              </a:rPr>
              <a:t>Tres pantallas para habilitar la accion docente en un solo clic</a:t>
            </a:r>
            <a:endParaRPr lang="en-US" sz="1600" i="1">
              <a:solidFill>
                <a:srgbClr val="82DCC8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E2D3687-D28C-3C29-8F84-CAD7FE3FB2EE}"/>
              </a:ext>
            </a:extLst>
          </p:cNvPr>
          <p:cNvSpPr/>
          <p:nvPr/>
        </p:nvSpPr>
        <p:spPr>
          <a:xfrm>
            <a:off x="11684000" y="0"/>
            <a:ext cx="508000" cy="508000"/>
          </a:xfrm>
          <a:prstGeom prst="rect">
            <a:avLst/>
          </a:prstGeom>
          <a:solidFill>
            <a:srgbClr val="00B9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F045839-2F24-166F-26A5-E1A140C8B819}"/>
              </a:ext>
            </a:extLst>
          </p:cNvPr>
          <p:cNvSpPr/>
          <p:nvPr/>
        </p:nvSpPr>
        <p:spPr>
          <a:xfrm>
            <a:off x="508000" y="1371600"/>
            <a:ext cx="3403600" cy="3378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8985FA7-7176-FCA7-67AF-2039B0B23E58}"/>
              </a:ext>
            </a:extLst>
          </p:cNvPr>
          <p:cNvSpPr/>
          <p:nvPr/>
        </p:nvSpPr>
        <p:spPr>
          <a:xfrm>
            <a:off x="508000" y="1371600"/>
            <a:ext cx="3403600" cy="889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C522121-837C-D468-0E68-69A3BE7FB43C}"/>
              </a:ext>
            </a:extLst>
          </p:cNvPr>
          <p:cNvSpPr txBox="1"/>
          <p:nvPr/>
        </p:nvSpPr>
        <p:spPr>
          <a:xfrm>
            <a:off x="660400" y="1574800"/>
            <a:ext cx="3098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478F6"/>
                </a:solidFill>
                <a:latin typeface="Calibri" panose="020F0502020204030204" pitchFamily="34" charset="0"/>
              </a:rPr>
              <a:t>PANTALLA 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30FE02-5713-2674-EECF-D0E49671D569}"/>
              </a:ext>
            </a:extLst>
          </p:cNvPr>
          <p:cNvSpPr txBox="1"/>
          <p:nvPr/>
        </p:nvSpPr>
        <p:spPr>
          <a:xfrm>
            <a:off x="660400" y="1930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E1A36"/>
                </a:solidFill>
                <a:latin typeface="Calibri" panose="020F0502020204030204" pitchFamily="34" charset="0"/>
              </a:rPr>
              <a:t>Vista del Docente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D3C5F2C-D23F-9415-E836-74CBD08A52C2}"/>
              </a:ext>
            </a:extLst>
          </p:cNvPr>
          <p:cNvSpPr txBox="1"/>
          <p:nvPr/>
        </p:nvSpPr>
        <p:spPr>
          <a:xfrm>
            <a:off x="660400" y="2438400"/>
            <a:ext cx="30988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323C55"/>
                </a:solidFill>
                <a:latin typeface="Calibri" panose="020F0502020204030204" pitchFamily="34" charset="0"/>
              </a:rPr>
              <a:t>Panel del paralelo con semaforo de riesgo por tarea activa y boton de intervencion al grupo rojo.</a:t>
            </a:r>
            <a:endParaRPr lang="en-US" sz="1500">
              <a:solidFill>
                <a:srgbClr val="323C55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4ED398-BB58-EB8F-A475-0B5A6A8D9278}"/>
              </a:ext>
            </a:extLst>
          </p:cNvPr>
          <p:cNvSpPr/>
          <p:nvPr/>
        </p:nvSpPr>
        <p:spPr>
          <a:xfrm>
            <a:off x="4394200" y="1371600"/>
            <a:ext cx="3403600" cy="3378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491B076-2ECB-7B68-B5D9-AECB9A268547}"/>
              </a:ext>
            </a:extLst>
          </p:cNvPr>
          <p:cNvSpPr/>
          <p:nvPr/>
        </p:nvSpPr>
        <p:spPr>
          <a:xfrm>
            <a:off x="4394200" y="1371600"/>
            <a:ext cx="3403600" cy="88900"/>
          </a:xfrm>
          <a:prstGeom prst="rect">
            <a:avLst/>
          </a:prstGeom>
          <a:solidFill>
            <a:srgbClr val="00B9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4F28FF-6678-7E3E-CB43-D8E6F09CF36E}"/>
              </a:ext>
            </a:extLst>
          </p:cNvPr>
          <p:cNvSpPr txBox="1"/>
          <p:nvPr/>
        </p:nvSpPr>
        <p:spPr>
          <a:xfrm>
            <a:off x="4546600" y="1574800"/>
            <a:ext cx="3098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00B99B"/>
                </a:solidFill>
                <a:latin typeface="Calibri" panose="020F0502020204030204" pitchFamily="34" charset="0"/>
              </a:rPr>
              <a:t>PANTALLA 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7CAB42F-E0DA-C35E-3C35-A7BD07E8336B}"/>
              </a:ext>
            </a:extLst>
          </p:cNvPr>
          <p:cNvSpPr txBox="1"/>
          <p:nvPr/>
        </p:nvSpPr>
        <p:spPr>
          <a:xfrm>
            <a:off x="4546600" y="1930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E1A36"/>
                </a:solidFill>
                <a:latin typeface="Calibri" panose="020F0502020204030204" pitchFamily="34" charset="0"/>
              </a:rPr>
              <a:t>Vista del Estudiante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0B76959-749D-0E3C-AD48-E7259F3BBE74}"/>
              </a:ext>
            </a:extLst>
          </p:cNvPr>
          <p:cNvSpPr txBox="1"/>
          <p:nvPr/>
        </p:nvSpPr>
        <p:spPr>
          <a:xfrm>
            <a:off x="4546600" y="2438400"/>
            <a:ext cx="30988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323C55"/>
                </a:solidFill>
                <a:latin typeface="Calibri" panose="020F0502020204030204" pitchFamily="34" charset="0"/>
              </a:rPr>
              <a:t>Widget de autorregulacion: barra de IPP y ruta sugerida de materiales pendientes de revision.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A5EDC81-F252-DA88-8BB0-43F2207C5EFA}"/>
              </a:ext>
            </a:extLst>
          </p:cNvPr>
          <p:cNvSpPr/>
          <p:nvPr/>
        </p:nvSpPr>
        <p:spPr>
          <a:xfrm>
            <a:off x="8280400" y="1371600"/>
            <a:ext cx="3403600" cy="3378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0AC4BDA-6490-BDBB-B0BC-245452C896C4}"/>
              </a:ext>
            </a:extLst>
          </p:cNvPr>
          <p:cNvSpPr/>
          <p:nvPr/>
        </p:nvSpPr>
        <p:spPr>
          <a:xfrm>
            <a:off x="8280400" y="1371600"/>
            <a:ext cx="3403600" cy="889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6F1E255-5DD8-7FB4-98A6-2B2F6AFA6D5C}"/>
              </a:ext>
            </a:extLst>
          </p:cNvPr>
          <p:cNvSpPr txBox="1"/>
          <p:nvPr/>
        </p:nvSpPr>
        <p:spPr>
          <a:xfrm>
            <a:off x="8432800" y="1574800"/>
            <a:ext cx="3098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478F6"/>
                </a:solidFill>
                <a:latin typeface="Calibri" panose="020F0502020204030204" pitchFamily="34" charset="0"/>
              </a:rPr>
              <a:t>PANTALLA 3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C0763AD-2630-62AF-4C67-9A20EBD23294}"/>
              </a:ext>
            </a:extLst>
          </p:cNvPr>
          <p:cNvSpPr txBox="1"/>
          <p:nvPr/>
        </p:nvSpPr>
        <p:spPr>
          <a:xfrm>
            <a:off x="8432800" y="1930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E1A36"/>
                </a:solidFill>
                <a:latin typeface="Calibri" panose="020F0502020204030204" pitchFamily="34" charset="0"/>
              </a:rPr>
              <a:t>Intervencion Docente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488EDB4-C4F0-9A70-E196-E07D32706488}"/>
              </a:ext>
            </a:extLst>
          </p:cNvPr>
          <p:cNvSpPr txBox="1"/>
          <p:nvPr/>
        </p:nvSpPr>
        <p:spPr>
          <a:xfrm>
            <a:off x="8432800" y="2438400"/>
            <a:ext cx="30988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323C55"/>
                </a:solidFill>
                <a:latin typeface="Calibri" panose="020F0502020204030204" pitchFamily="34" charset="0"/>
              </a:rPr>
              <a:t>Modal rapido para enviar orientacion pedagogica o citar a tutoria voluntaria con un clic.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EE37A84-5493-2F7A-63AE-B60225193C07}"/>
              </a:ext>
            </a:extLst>
          </p:cNvPr>
          <p:cNvSpPr/>
          <p:nvPr/>
        </p:nvSpPr>
        <p:spPr>
          <a:xfrm>
            <a:off x="508000" y="4927600"/>
            <a:ext cx="11176000" cy="762000"/>
          </a:xfrm>
          <a:prstGeom prst="rect">
            <a:avLst/>
          </a:prstGeom>
          <a:solidFill>
            <a:srgbClr val="0E1A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C653BE8-1F8B-1261-FDAF-C4A80A035503}"/>
              </a:ext>
            </a:extLst>
          </p:cNvPr>
          <p:cNvSpPr txBox="1"/>
          <p:nvPr/>
        </p:nvSpPr>
        <p:spPr>
          <a:xfrm>
            <a:off x="711200" y="51054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C8DCFF"/>
                </a:solidFill>
                <a:latin typeface="Calibri" panose="020F0502020204030204" pitchFamily="34" charset="0"/>
              </a:rPr>
              <a:t>1. Deteccion grupo rojo a 48 h   →   2. Notificacion al docente   →   3. Envio orientacion / tutoria   →   4. Registro en DB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17C02CD-9C22-3CE9-73E9-239642C33926}"/>
              </a:ext>
            </a:extLst>
          </p:cNvPr>
          <p:cNvSpPr txBox="1"/>
          <p:nvPr/>
        </p:nvSpPr>
        <p:spPr>
          <a:xfrm>
            <a:off x="711200" y="5816600"/>
            <a:ext cx="1076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00B99B"/>
                </a:solidFill>
                <a:latin typeface="Calibri" panose="020F0502020204030204" pitchFamily="34" charset="0"/>
              </a:rPr>
              <a:t>FLUJO DE INTERVENCION PEDAGOGICA</a:t>
            </a:r>
          </a:p>
        </p:txBody>
      </p:sp>
    </p:spTree>
    <p:extLst>
      <p:ext uri="{BB962C8B-B14F-4D97-AF65-F5344CB8AC3E}">
        <p14:creationId xmlns:p14="http://schemas.microsoft.com/office/powerpoint/2010/main" val="3653950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5C3F39D-D878-E00C-DB83-97BF59FF4DBE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220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4A2D059-0574-5FE9-A43C-5A481B9C23D0}"/>
              </a:ext>
            </a:extLst>
          </p:cNvPr>
          <p:cNvSpPr/>
          <p:nvPr/>
        </p:nvSpPr>
        <p:spPr>
          <a:xfrm>
            <a:off x="0" y="1168400"/>
            <a:ext cx="12192000" cy="508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C20E83-A51F-72BC-1CAA-B1DA6C88EC74}"/>
              </a:ext>
            </a:extLst>
          </p:cNvPr>
          <p:cNvSpPr txBox="1"/>
          <p:nvPr/>
        </p:nvSpPr>
        <p:spPr>
          <a:xfrm>
            <a:off x="558800" y="127000"/>
            <a:ext cx="11074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Calibri" panose="020F0502020204030204" pitchFamily="34" charset="0"/>
              </a:rPr>
              <a:t>Prueba de Concepto Computacional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0132C9-082B-D05B-B35D-77CAECAC4C90}"/>
              </a:ext>
            </a:extLst>
          </p:cNvPr>
          <p:cNvSpPr txBox="1"/>
          <p:nvPr/>
        </p:nvSpPr>
        <p:spPr>
          <a:xfrm>
            <a:off x="558800" y="711200"/>
            <a:ext cx="11074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i="1">
                <a:solidFill>
                  <a:srgbClr val="AAC8F0"/>
                </a:solidFill>
                <a:latin typeface="Calibri" panose="020F0502020204030204" pitchFamily="34" charset="0"/>
              </a:rPr>
              <a:t>Validacion con OULAD, tablero interactivo Plotly y modelos predictivos ML</a:t>
            </a:r>
            <a:endParaRPr lang="en-US" sz="1600" i="1">
              <a:solidFill>
                <a:srgbClr val="AAC8F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9CF1F0B-02CC-CC99-0E89-AF92502B8CD4}"/>
              </a:ext>
            </a:extLst>
          </p:cNvPr>
          <p:cNvSpPr/>
          <p:nvPr/>
        </p:nvSpPr>
        <p:spPr>
          <a:xfrm>
            <a:off x="11684000" y="0"/>
            <a:ext cx="508000" cy="5080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C3BD788-26A8-A804-159C-F1AD982D4E6D}"/>
              </a:ext>
            </a:extLst>
          </p:cNvPr>
          <p:cNvSpPr/>
          <p:nvPr/>
        </p:nvSpPr>
        <p:spPr>
          <a:xfrm>
            <a:off x="508000" y="1371600"/>
            <a:ext cx="5080000" cy="4013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7E9F46-981E-C180-A4F8-150983D42AFB}"/>
              </a:ext>
            </a:extLst>
          </p:cNvPr>
          <p:cNvSpPr/>
          <p:nvPr/>
        </p:nvSpPr>
        <p:spPr>
          <a:xfrm>
            <a:off x="508000" y="1371600"/>
            <a:ext cx="63500" cy="40132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F4FB7C7-0BBD-4896-6230-7517691B0C08}"/>
              </a:ext>
            </a:extLst>
          </p:cNvPr>
          <p:cNvSpPr txBox="1"/>
          <p:nvPr/>
        </p:nvSpPr>
        <p:spPr>
          <a:xfrm>
            <a:off x="685800" y="1524000"/>
            <a:ext cx="482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478F6"/>
                </a:solidFill>
                <a:latin typeface="Calibri" panose="020F0502020204030204" pitchFamily="34" charset="0"/>
              </a:rPr>
              <a:t>METODOLOGIA Y DATOS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7D65794-C4CD-20EA-8A93-E9E08C42DB90}"/>
              </a:ext>
            </a:extLst>
          </p:cNvPr>
          <p:cNvSpPr txBox="1"/>
          <p:nvPr/>
        </p:nvSpPr>
        <p:spPr>
          <a:xfrm>
            <a:off x="685800" y="1930400"/>
            <a:ext cx="4826000" cy="27084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1E2841"/>
                </a:solidFill>
                <a:latin typeface="Calibri" panose="020F0502020204030204" pitchFamily="34" charset="0"/>
              </a:rPr>
              <a:t>Dataset: OULAD (Open University)
500 estudiantes  |  4 recursos clave
Calculo del IPP sobre logs del VLE
cruzados con registros de entrega
Modelos entrenados:
  •  Regresion Logistica
  •  Arbol de Decision
Particion: 80% entrenamiento / 20% prueba</a:t>
            </a:r>
            <a:endParaRPr lang="en-US" sz="1600">
              <a:solidFill>
                <a:srgbClr val="1E284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6F02805-9AA8-8C44-8FC0-7403E97A09B6}"/>
              </a:ext>
            </a:extLst>
          </p:cNvPr>
          <p:cNvSpPr/>
          <p:nvPr/>
        </p:nvSpPr>
        <p:spPr>
          <a:xfrm>
            <a:off x="6045200" y="1371600"/>
            <a:ext cx="5892800" cy="2794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462E052-70B1-14AD-0A47-8BFC27BBDA4D}"/>
              </a:ext>
            </a:extLst>
          </p:cNvPr>
          <p:cNvSpPr/>
          <p:nvPr/>
        </p:nvSpPr>
        <p:spPr>
          <a:xfrm>
            <a:off x="6045200" y="1371600"/>
            <a:ext cx="63500" cy="2794000"/>
          </a:xfrm>
          <a:prstGeom prst="rect">
            <a:avLst/>
          </a:prstGeom>
          <a:solidFill>
            <a:srgbClr val="28A7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F82035A-2724-34B2-C425-E064527C8281}"/>
              </a:ext>
            </a:extLst>
          </p:cNvPr>
          <p:cNvSpPr txBox="1"/>
          <p:nvPr/>
        </p:nvSpPr>
        <p:spPr>
          <a:xfrm>
            <a:off x="6248400" y="1498600"/>
            <a:ext cx="548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88C45"/>
                </a:solidFill>
                <a:latin typeface="Calibri" panose="020F0502020204030204" pitchFamily="34" charset="0"/>
              </a:rPr>
              <a:t>RESULTADOS DEL MODELO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BE07FB4-8215-A97A-47E7-8BC074BB3BA8}"/>
              </a:ext>
            </a:extLst>
          </p:cNvPr>
          <p:cNvSpPr/>
          <p:nvPr/>
        </p:nvSpPr>
        <p:spPr>
          <a:xfrm>
            <a:off x="6197600" y="1905000"/>
            <a:ext cx="1778000" cy="1066800"/>
          </a:xfrm>
          <a:prstGeom prst="rect">
            <a:avLst/>
          </a:prstGeom>
          <a:solidFill>
            <a:srgbClr val="F0FC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3158014-021B-D454-48E4-454B76324BBC}"/>
              </a:ext>
            </a:extLst>
          </p:cNvPr>
          <p:cNvSpPr txBox="1"/>
          <p:nvPr/>
        </p:nvSpPr>
        <p:spPr>
          <a:xfrm>
            <a:off x="6299200" y="2006600"/>
            <a:ext cx="1574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98241"/>
                </a:solidFill>
                <a:latin typeface="Calibri" panose="020F0502020204030204" pitchFamily="34" charset="0"/>
              </a:rPr>
              <a:t>81 %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C714101-C853-BB72-C9E3-B2A711D61F8A}"/>
              </a:ext>
            </a:extLst>
          </p:cNvPr>
          <p:cNvSpPr txBox="1"/>
          <p:nvPr/>
        </p:nvSpPr>
        <p:spPr>
          <a:xfrm>
            <a:off x="6299200" y="2667000"/>
            <a:ext cx="157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32503C"/>
                </a:solidFill>
                <a:latin typeface="Calibri" panose="020F0502020204030204" pitchFamily="34" charset="0"/>
              </a:rPr>
              <a:t>Precision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D1CB0D1-EBE6-4DF6-8CAA-5E10FFCF1CC9}"/>
              </a:ext>
            </a:extLst>
          </p:cNvPr>
          <p:cNvSpPr/>
          <p:nvPr/>
        </p:nvSpPr>
        <p:spPr>
          <a:xfrm>
            <a:off x="8077200" y="1905000"/>
            <a:ext cx="1778000" cy="1066800"/>
          </a:xfrm>
          <a:prstGeom prst="rect">
            <a:avLst/>
          </a:prstGeom>
          <a:solidFill>
            <a:srgbClr val="F0FC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550D7E-21F4-3587-FCD3-CA98A08CB119}"/>
              </a:ext>
            </a:extLst>
          </p:cNvPr>
          <p:cNvSpPr txBox="1"/>
          <p:nvPr/>
        </p:nvSpPr>
        <p:spPr>
          <a:xfrm>
            <a:off x="8178800" y="2006600"/>
            <a:ext cx="1574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98241"/>
                </a:solidFill>
                <a:latin typeface="Calibri" panose="020F0502020204030204" pitchFamily="34" charset="0"/>
              </a:rPr>
              <a:t>83 %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A262EC4-B960-9809-7874-BBC908993C03}"/>
              </a:ext>
            </a:extLst>
          </p:cNvPr>
          <p:cNvSpPr txBox="1"/>
          <p:nvPr/>
        </p:nvSpPr>
        <p:spPr>
          <a:xfrm>
            <a:off x="8178800" y="2667000"/>
            <a:ext cx="157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32503C"/>
                </a:solidFill>
                <a:latin typeface="Calibri" panose="020F0502020204030204" pitchFamily="34" charset="0"/>
              </a:rPr>
              <a:t>Recall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1DAE29F-6754-D28F-6BC0-6A77A2BCBB72}"/>
              </a:ext>
            </a:extLst>
          </p:cNvPr>
          <p:cNvSpPr/>
          <p:nvPr/>
        </p:nvSpPr>
        <p:spPr>
          <a:xfrm>
            <a:off x="9956800" y="1905000"/>
            <a:ext cx="1778000" cy="1066800"/>
          </a:xfrm>
          <a:prstGeom prst="rect">
            <a:avLst/>
          </a:prstGeom>
          <a:solidFill>
            <a:srgbClr val="F0FC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19D4DBB-7864-4A2E-AEDB-60F1D983DB24}"/>
              </a:ext>
            </a:extLst>
          </p:cNvPr>
          <p:cNvSpPr txBox="1"/>
          <p:nvPr/>
        </p:nvSpPr>
        <p:spPr>
          <a:xfrm>
            <a:off x="10058400" y="2006600"/>
            <a:ext cx="1574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98241"/>
                </a:solidFill>
                <a:latin typeface="Calibri" panose="020F0502020204030204" pitchFamily="34" charset="0"/>
              </a:rPr>
              <a:t>0.84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13330DF-B0E9-DC01-F5D5-CA77A75B7495}"/>
              </a:ext>
            </a:extLst>
          </p:cNvPr>
          <p:cNvSpPr txBox="1"/>
          <p:nvPr/>
        </p:nvSpPr>
        <p:spPr>
          <a:xfrm>
            <a:off x="10058400" y="2667000"/>
            <a:ext cx="157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32503C"/>
                </a:solidFill>
                <a:latin typeface="Calibri" panose="020F0502020204030204" pitchFamily="34" charset="0"/>
              </a:rPr>
              <a:t>ROC-AUC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994D360-222B-2B63-4FA9-2710995B451A}"/>
              </a:ext>
            </a:extLst>
          </p:cNvPr>
          <p:cNvSpPr txBox="1"/>
          <p:nvPr/>
        </p:nvSpPr>
        <p:spPr>
          <a:xfrm>
            <a:off x="6248400" y="3124200"/>
            <a:ext cx="5486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1E2D46"/>
                </a:solidFill>
                <a:latin typeface="Calibri" panose="020F0502020204030204" pitchFamily="34" charset="0"/>
              </a:rPr>
              <a:t>El IPP predice correctamente al 83% de los estudiantes que entregaran a tiempo.</a:t>
            </a:r>
            <a:endParaRPr lang="en-US" sz="1500">
              <a:solidFill>
                <a:srgbClr val="1E2D4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BDC0B15-01FD-DF82-986A-1CC82177C35F}"/>
              </a:ext>
            </a:extLst>
          </p:cNvPr>
          <p:cNvSpPr/>
          <p:nvPr/>
        </p:nvSpPr>
        <p:spPr>
          <a:xfrm>
            <a:off x="6045200" y="4318000"/>
            <a:ext cx="5892800" cy="1066800"/>
          </a:xfrm>
          <a:prstGeom prst="rect">
            <a:avLst/>
          </a:prstGeom>
          <a:solidFill>
            <a:srgbClr val="FAF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1664D50-439A-58BB-C778-A8611A181816}"/>
              </a:ext>
            </a:extLst>
          </p:cNvPr>
          <p:cNvSpPr txBox="1"/>
          <p:nvPr/>
        </p:nvSpPr>
        <p:spPr>
          <a:xfrm>
            <a:off x="6248400" y="4445000"/>
            <a:ext cx="548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A05A00"/>
                </a:solidFill>
                <a:latin typeface="Calibri" panose="020F0502020204030204" pitchFamily="34" charset="0"/>
              </a:rPr>
              <a:t>LIMITES DEL PROTOTIPO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742B2D0-C1BA-9A23-D49C-570C9AE3E03E}"/>
              </a:ext>
            </a:extLst>
          </p:cNvPr>
          <p:cNvSpPr txBox="1"/>
          <p:nvPr/>
        </p:nvSpPr>
        <p:spPr>
          <a:xfrm>
            <a:off x="6248400" y="4775200"/>
            <a:ext cx="5486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i="1">
                <a:solidFill>
                  <a:srgbClr val="645028"/>
                </a:solidFill>
                <a:latin typeface="Calibri" panose="020F0502020204030204" pitchFamily="34" charset="0"/>
              </a:rPr>
              <a:t>No mide comprension lectora  |  No captura estudio presencial o colaborativo fuera del aula virtual</a:t>
            </a:r>
          </a:p>
        </p:txBody>
      </p:sp>
    </p:spTree>
    <p:extLst>
      <p:ext uri="{BB962C8B-B14F-4D97-AF65-F5344CB8AC3E}">
        <p14:creationId xmlns:p14="http://schemas.microsoft.com/office/powerpoint/2010/main" val="2251754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130A571-E589-0E19-C52D-09F255DBDE13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2203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630C164-ADA6-DCAE-07FC-95D86C900278}"/>
              </a:ext>
            </a:extLst>
          </p:cNvPr>
          <p:cNvSpPr/>
          <p:nvPr/>
        </p:nvSpPr>
        <p:spPr>
          <a:xfrm>
            <a:off x="0" y="1168400"/>
            <a:ext cx="12192000" cy="50800"/>
          </a:xfrm>
          <a:prstGeom prst="rect">
            <a:avLst/>
          </a:prstGeom>
          <a:solidFill>
            <a:srgbClr val="00B9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E4CEF69-6AA6-D6AD-C5E5-20A33FC2AD10}"/>
              </a:ext>
            </a:extLst>
          </p:cNvPr>
          <p:cNvSpPr txBox="1"/>
          <p:nvPr/>
        </p:nvSpPr>
        <p:spPr>
          <a:xfrm>
            <a:off x="558800" y="127000"/>
            <a:ext cx="11074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3000" b="1">
                <a:solidFill>
                  <a:srgbClr val="FFFFFF"/>
                </a:solidFill>
                <a:latin typeface="Calibri" panose="020F0502020204030204" pitchFamily="34" charset="0"/>
              </a:rPr>
              <a:t>Diseno del Plan de Validacion</a:t>
            </a:r>
            <a:endParaRPr lang="en-US" sz="3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65B516-536A-39EF-DA07-B2FF5BF7BC28}"/>
              </a:ext>
            </a:extLst>
          </p:cNvPr>
          <p:cNvSpPr txBox="1"/>
          <p:nvPr/>
        </p:nvSpPr>
        <p:spPr>
          <a:xfrm>
            <a:off x="558800" y="711200"/>
            <a:ext cx="11074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i="1">
                <a:solidFill>
                  <a:srgbClr val="82DCC8"/>
                </a:solidFill>
                <a:latin typeface="Calibri" panose="020F0502020204030204" pitchFamily="34" charset="0"/>
              </a:rPr>
              <a:t>Protocolo de evaluacion tecnica, pedagogica y de usabilidad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E02BA44-4E54-E584-1FAA-7A93A4672039}"/>
              </a:ext>
            </a:extLst>
          </p:cNvPr>
          <p:cNvSpPr/>
          <p:nvPr/>
        </p:nvSpPr>
        <p:spPr>
          <a:xfrm>
            <a:off x="11684000" y="0"/>
            <a:ext cx="508000" cy="508000"/>
          </a:xfrm>
          <a:prstGeom prst="rect">
            <a:avLst/>
          </a:prstGeom>
          <a:solidFill>
            <a:srgbClr val="00B9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41D61BE-E0B1-480F-D77B-43C2D3282C13}"/>
              </a:ext>
            </a:extLst>
          </p:cNvPr>
          <p:cNvSpPr/>
          <p:nvPr/>
        </p:nvSpPr>
        <p:spPr>
          <a:xfrm>
            <a:off x="508000" y="1371600"/>
            <a:ext cx="3403600" cy="393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C25AA38-AF1D-1FEA-B5DD-E78BB81EA1BE}"/>
              </a:ext>
            </a:extLst>
          </p:cNvPr>
          <p:cNvSpPr/>
          <p:nvPr/>
        </p:nvSpPr>
        <p:spPr>
          <a:xfrm>
            <a:off x="508000" y="1371600"/>
            <a:ext cx="3403600" cy="889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784C2DC-EE1F-8C94-3575-DBF711BA1675}"/>
              </a:ext>
            </a:extLst>
          </p:cNvPr>
          <p:cNvSpPr txBox="1"/>
          <p:nvPr/>
        </p:nvSpPr>
        <p:spPr>
          <a:xfrm>
            <a:off x="660400" y="1574800"/>
            <a:ext cx="3098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478F6"/>
                </a:solidFill>
                <a:latin typeface="Calibri" panose="020F0502020204030204" pitchFamily="34" charset="0"/>
              </a:rPr>
              <a:t>1. VALIDACION TECNICA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E46B3F-38F1-8DC6-5DAC-7408A401B01A}"/>
              </a:ext>
            </a:extLst>
          </p:cNvPr>
          <p:cNvSpPr txBox="1"/>
          <p:nvPr/>
        </p:nvSpPr>
        <p:spPr>
          <a:xfrm>
            <a:off x="660400" y="2032000"/>
            <a:ext cx="3098800" cy="17235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1E2841"/>
                </a:solidFill>
                <a:latin typeface="Calibri" panose="020F0502020204030204" pitchFamily="34" charset="0"/>
              </a:rPr>
              <a:t>Sensibilidad (Recall) ≥ 80%
Calibrar umbrales del 40% y 70%
Matrices de confusion y curvas ROC
Particion train 80% / test 20%</a:t>
            </a:r>
            <a:endParaRPr lang="en-US" sz="1600">
              <a:solidFill>
                <a:srgbClr val="1E284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3011C25-BD3B-1854-DFDB-4F5E023526E1}"/>
              </a:ext>
            </a:extLst>
          </p:cNvPr>
          <p:cNvSpPr/>
          <p:nvPr/>
        </p:nvSpPr>
        <p:spPr>
          <a:xfrm>
            <a:off x="4394200" y="1371600"/>
            <a:ext cx="3403600" cy="393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F118E0C-6C80-8480-4B44-FB7D54C874FF}"/>
              </a:ext>
            </a:extLst>
          </p:cNvPr>
          <p:cNvSpPr/>
          <p:nvPr/>
        </p:nvSpPr>
        <p:spPr>
          <a:xfrm>
            <a:off x="4394200" y="1371600"/>
            <a:ext cx="3403600" cy="88900"/>
          </a:xfrm>
          <a:prstGeom prst="rect">
            <a:avLst/>
          </a:prstGeom>
          <a:solidFill>
            <a:srgbClr val="00B99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DC2292F-178F-AF1C-CCCA-DFC69A4C1B05}"/>
              </a:ext>
            </a:extLst>
          </p:cNvPr>
          <p:cNvSpPr txBox="1"/>
          <p:nvPr/>
        </p:nvSpPr>
        <p:spPr>
          <a:xfrm>
            <a:off x="4546600" y="1574800"/>
            <a:ext cx="3098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00B99B"/>
                </a:solidFill>
                <a:latin typeface="Calibri" panose="020F0502020204030204" pitchFamily="34" charset="0"/>
              </a:rPr>
              <a:t>2. VALIDACION PEDAGOGICA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4DD2CE-5E8A-286D-AE5F-867D2B1C4C83}"/>
              </a:ext>
            </a:extLst>
          </p:cNvPr>
          <p:cNvSpPr txBox="1"/>
          <p:nvPr/>
        </p:nvSpPr>
        <p:spPr>
          <a:xfrm>
            <a:off x="4546600" y="2032000"/>
            <a:ext cx="3098800" cy="196977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1E2841"/>
                </a:solidFill>
                <a:latin typeface="Calibri" panose="020F0502020204030204" pitchFamily="34" charset="0"/>
              </a:rPr>
              <a:t>Estudio cuasiexperimental:
  Grupo A: Experimental (con CheckBefore)
  Grupo B: Control (Moodle estandar)
Hipotesis: reduccion ≥ 20% en no entregas</a:t>
            </a:r>
            <a:endParaRPr lang="en-US" sz="1600">
              <a:solidFill>
                <a:srgbClr val="1E284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E8BC33B-C75D-9E67-63D3-A8519E3E9F84}"/>
              </a:ext>
            </a:extLst>
          </p:cNvPr>
          <p:cNvSpPr/>
          <p:nvPr/>
        </p:nvSpPr>
        <p:spPr>
          <a:xfrm>
            <a:off x="8280400" y="1371600"/>
            <a:ext cx="3403600" cy="393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4FDCE73-7B08-A650-F479-35ED471BBA14}"/>
              </a:ext>
            </a:extLst>
          </p:cNvPr>
          <p:cNvSpPr/>
          <p:nvPr/>
        </p:nvSpPr>
        <p:spPr>
          <a:xfrm>
            <a:off x="8280400" y="1371600"/>
            <a:ext cx="3403600" cy="88900"/>
          </a:xfrm>
          <a:prstGeom prst="rect">
            <a:avLst/>
          </a:prstGeom>
          <a:solidFill>
            <a:srgbClr val="D296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2B0F3EE-7121-D1FA-3CDA-7DD5C531EAA9}"/>
              </a:ext>
            </a:extLst>
          </p:cNvPr>
          <p:cNvSpPr txBox="1"/>
          <p:nvPr/>
        </p:nvSpPr>
        <p:spPr>
          <a:xfrm>
            <a:off x="8432800" y="1574800"/>
            <a:ext cx="3098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D29600"/>
                </a:solidFill>
                <a:latin typeface="Calibri" panose="020F0502020204030204" pitchFamily="34" charset="0"/>
              </a:rPr>
              <a:t>3. VALIDACION DE USABILIDAD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0439B01-8821-1576-F356-CCBEAC5A925E}"/>
              </a:ext>
            </a:extLst>
          </p:cNvPr>
          <p:cNvSpPr txBox="1"/>
          <p:nvPr/>
        </p:nvSpPr>
        <p:spPr>
          <a:xfrm>
            <a:off x="8432800" y="2032000"/>
            <a:ext cx="3098800" cy="196977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1E2841"/>
                </a:solidFill>
                <a:latin typeface="Calibri" panose="020F0502020204030204" pitchFamily="34" charset="0"/>
              </a:rPr>
              <a:t>Instrumento SUS (System Usability Scale)
Aplicado a docentes del paralelo
Meta: puntuacion SUS &gt; 70 puntos
Registro de apertura de mensajes</a:t>
            </a:r>
            <a:endParaRPr lang="en-US" sz="1600">
              <a:solidFill>
                <a:srgbClr val="1E284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2695A74-8802-EE10-8D46-B805CC1D395B}"/>
              </a:ext>
            </a:extLst>
          </p:cNvPr>
          <p:cNvSpPr/>
          <p:nvPr/>
        </p:nvSpPr>
        <p:spPr>
          <a:xfrm>
            <a:off x="508000" y="5461000"/>
            <a:ext cx="11176000" cy="711200"/>
          </a:xfrm>
          <a:prstGeom prst="rect">
            <a:avLst/>
          </a:prstGeom>
          <a:solidFill>
            <a:srgbClr val="0E1A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55279D2-BC8B-B0F8-1A88-57A2FB639619}"/>
              </a:ext>
            </a:extLst>
          </p:cNvPr>
          <p:cNvSpPr txBox="1"/>
          <p:nvPr/>
        </p:nvSpPr>
        <p:spPr>
          <a:xfrm>
            <a:off x="711200" y="56388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 i="1">
                <a:solidFill>
                  <a:srgbClr val="B4D7FF"/>
                </a:solidFill>
                <a:latin typeface="Calibri" panose="020F0502020204030204" pitchFamily="34" charset="0"/>
              </a:rPr>
              <a:t>Criterio de exito global:  SUS &gt; 70 pts   |   Recall ≥ 80%   |   Reduccion estadisticamente significativa en no entregas</a:t>
            </a:r>
            <a:endParaRPr lang="en-US" sz="1500" i="1">
              <a:solidFill>
                <a:srgbClr val="B4D7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500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20BEE3B-FCDD-D8BB-85E2-53BC15CCACA5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0E1A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A11753E-C01D-765A-B504-6F589720D095}"/>
              </a:ext>
            </a:extLst>
          </p:cNvPr>
          <p:cNvSpPr/>
          <p:nvPr/>
        </p:nvSpPr>
        <p:spPr>
          <a:xfrm>
            <a:off x="0" y="1168400"/>
            <a:ext cx="12192000" cy="635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F43344B-CF7F-C341-7F69-11BDEACB77A5}"/>
              </a:ext>
            </a:extLst>
          </p:cNvPr>
          <p:cNvSpPr/>
          <p:nvPr/>
        </p:nvSpPr>
        <p:spPr>
          <a:xfrm>
            <a:off x="11684000" y="0"/>
            <a:ext cx="508000" cy="11684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975603-24CE-0FC5-0F6B-1B539C49B8B5}"/>
              </a:ext>
            </a:extLst>
          </p:cNvPr>
          <p:cNvSpPr txBox="1"/>
          <p:nvPr/>
        </p:nvSpPr>
        <p:spPr>
          <a:xfrm>
            <a:off x="457200" y="177800"/>
            <a:ext cx="11074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800" b="1">
                <a:solidFill>
                  <a:srgbClr val="FFFFFF"/>
                </a:solidFill>
                <a:latin typeface="Calibri" panose="020F0502020204030204" pitchFamily="34" charset="0"/>
              </a:rPr>
              <a:t>Preguntas Abiertas para la Unidad 3 de Estadistica</a:t>
            </a:r>
            <a:endParaRPr lang="en-US" sz="2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57B1E42-4D9B-4A3C-A779-96035D46D7EC}"/>
              </a:ext>
            </a:extLst>
          </p:cNvPr>
          <p:cNvSpPr txBox="1"/>
          <p:nvPr/>
        </p:nvSpPr>
        <p:spPr>
          <a:xfrm>
            <a:off x="457200" y="736600"/>
            <a:ext cx="11074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 i="1">
                <a:solidFill>
                  <a:srgbClr val="AACDFF"/>
                </a:solidFill>
                <a:latin typeface="Calibri" panose="020F0502020204030204" pitchFamily="34" charset="0"/>
              </a:rPr>
              <a:t>Cierre metodologico: conexion formal con Estadistica para Ciencia de Datos</a:t>
            </a:r>
            <a:endParaRPr lang="en-US" sz="1500" i="1">
              <a:solidFill>
                <a:srgbClr val="AACD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7009B00-85DA-F033-270E-D06ADC06602D}"/>
              </a:ext>
            </a:extLst>
          </p:cNvPr>
          <p:cNvSpPr/>
          <p:nvPr/>
        </p:nvSpPr>
        <p:spPr>
          <a:xfrm>
            <a:off x="457200" y="1473200"/>
            <a:ext cx="508000" cy="5080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516DD9-C325-C5C5-80B1-C4A51206D106}"/>
              </a:ext>
            </a:extLst>
          </p:cNvPr>
          <p:cNvSpPr txBox="1"/>
          <p:nvPr/>
        </p:nvSpPr>
        <p:spPr>
          <a:xfrm>
            <a:off x="457200" y="14986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D75FA7-AC6E-7CB1-610B-86DE1002B209}"/>
              </a:ext>
            </a:extLst>
          </p:cNvPr>
          <p:cNvSpPr txBox="1"/>
          <p:nvPr/>
        </p:nvSpPr>
        <p:spPr>
          <a:xfrm>
            <a:off x="1117600" y="14224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E1A36"/>
                </a:solidFill>
                <a:latin typeface="Calibri" panose="020F0502020204030204" pitchFamily="34" charset="0"/>
              </a:rPr>
              <a:t>Significancia del cambio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CB5980-4CA8-BD83-660D-ACBD047C4978}"/>
              </a:ext>
            </a:extLst>
          </p:cNvPr>
          <p:cNvSpPr txBox="1"/>
          <p:nvPr/>
        </p:nvSpPr>
        <p:spPr>
          <a:xfrm>
            <a:off x="1117600" y="1778000"/>
            <a:ext cx="1066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37415A"/>
                </a:solidFill>
                <a:latin typeface="Calibri" panose="020F0502020204030204" pitchFamily="34" charset="0"/>
              </a:rPr>
              <a:t>Como verificar si la reduccion de no entregas entre paralelos es real o atribuible al azar?</a:t>
            </a:r>
            <a:endParaRPr lang="en-US" sz="1500">
              <a:solidFill>
                <a:srgbClr val="37415A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3F970B5-0BA3-E210-D547-7701DD12C678}"/>
              </a:ext>
            </a:extLst>
          </p:cNvPr>
          <p:cNvSpPr/>
          <p:nvPr/>
        </p:nvSpPr>
        <p:spPr>
          <a:xfrm>
            <a:off x="457200" y="2438400"/>
            <a:ext cx="508000" cy="5080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96140F7-63B0-27F8-9DC9-1B609258302F}"/>
              </a:ext>
            </a:extLst>
          </p:cNvPr>
          <p:cNvSpPr txBox="1"/>
          <p:nvPr/>
        </p:nvSpPr>
        <p:spPr>
          <a:xfrm>
            <a:off x="457200" y="2463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254E1E5-D08F-633A-3B28-C494FB2E1AE2}"/>
              </a:ext>
            </a:extLst>
          </p:cNvPr>
          <p:cNvSpPr txBox="1"/>
          <p:nvPr/>
        </p:nvSpPr>
        <p:spPr>
          <a:xfrm>
            <a:off x="1117600" y="23876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E1A36"/>
                </a:solidFill>
                <a:latin typeface="Calibri" panose="020F0502020204030204" pitchFamily="34" charset="0"/>
              </a:rPr>
              <a:t>Contraste de variables binarias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D549FF1-5EF9-8C1B-735C-760A009C39B9}"/>
              </a:ext>
            </a:extLst>
          </p:cNvPr>
          <p:cNvSpPr txBox="1"/>
          <p:nvPr/>
        </p:nvSpPr>
        <p:spPr>
          <a:xfrm>
            <a:off x="1117600" y="2743200"/>
            <a:ext cx="1066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37415A"/>
                </a:solidFill>
                <a:latin typeface="Calibri" panose="020F0502020204030204" pitchFamily="34" charset="0"/>
              </a:rPr>
              <a:t>Que prueba formal aplica a entrega-a-tiempo (0/1): Chi-cuadrado, Fisher o regresion logistica?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CD670BE-AE2F-DAB3-E926-E63C56248DDF}"/>
              </a:ext>
            </a:extLst>
          </p:cNvPr>
          <p:cNvSpPr/>
          <p:nvPr/>
        </p:nvSpPr>
        <p:spPr>
          <a:xfrm>
            <a:off x="457200" y="3403600"/>
            <a:ext cx="508000" cy="5080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0E49B22-2737-275C-B217-6CD6D9ECBD78}"/>
              </a:ext>
            </a:extLst>
          </p:cNvPr>
          <p:cNvSpPr txBox="1"/>
          <p:nvPr/>
        </p:nvSpPr>
        <p:spPr>
          <a:xfrm>
            <a:off x="457200" y="34290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9E42FB3-E78F-B11F-23A6-0B73DBFD3235}"/>
              </a:ext>
            </a:extLst>
          </p:cNvPr>
          <p:cNvSpPr txBox="1"/>
          <p:nvPr/>
        </p:nvSpPr>
        <p:spPr>
          <a:xfrm>
            <a:off x="1117600" y="33528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E1A36"/>
                </a:solidFill>
                <a:latin typeface="Calibri" panose="020F0502020204030204" pitchFamily="34" charset="0"/>
              </a:rPr>
              <a:t>Potencia muestral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95AFBD5-5A4F-B346-AFDB-78369AC735C5}"/>
              </a:ext>
            </a:extLst>
          </p:cNvPr>
          <p:cNvSpPr txBox="1"/>
          <p:nvPr/>
        </p:nvSpPr>
        <p:spPr>
          <a:xfrm>
            <a:off x="1117600" y="3708400"/>
            <a:ext cx="1066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37415A"/>
                </a:solidFill>
                <a:latin typeface="Calibri" panose="020F0502020204030204" pitchFamily="34" charset="0"/>
              </a:rPr>
              <a:t>Cuantos estudiantes y cursos garantizan una potencia estadistica minima del 80%?</a:t>
            </a:r>
            <a:endParaRPr lang="en-US" sz="1500">
              <a:solidFill>
                <a:srgbClr val="37415A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ECEB9C5-3ED4-412B-5A63-9DBD3863B8B0}"/>
              </a:ext>
            </a:extLst>
          </p:cNvPr>
          <p:cNvSpPr/>
          <p:nvPr/>
        </p:nvSpPr>
        <p:spPr>
          <a:xfrm>
            <a:off x="457200" y="4368800"/>
            <a:ext cx="508000" cy="5080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D4D0D85-FC55-F0EC-409B-853F02290D7E}"/>
              </a:ext>
            </a:extLst>
          </p:cNvPr>
          <p:cNvSpPr txBox="1"/>
          <p:nvPr/>
        </p:nvSpPr>
        <p:spPr>
          <a:xfrm>
            <a:off x="457200" y="43942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586E66D-E0D1-362F-AEA4-CAC11FB7539A}"/>
              </a:ext>
            </a:extLst>
          </p:cNvPr>
          <p:cNvSpPr txBox="1"/>
          <p:nvPr/>
        </p:nvSpPr>
        <p:spPr>
          <a:xfrm>
            <a:off x="1117600" y="43180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E1A36"/>
                </a:solidFill>
                <a:latin typeface="Calibri" panose="020F0502020204030204" pitchFamily="34" charset="0"/>
              </a:rPr>
              <a:t>Variables confusoras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F2A81D7-6BC8-37BE-452F-823698412527}"/>
              </a:ext>
            </a:extLst>
          </p:cNvPr>
          <p:cNvSpPr txBox="1"/>
          <p:nvPr/>
        </p:nvSpPr>
        <p:spPr>
          <a:xfrm>
            <a:off x="1117600" y="4673600"/>
            <a:ext cx="1066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37415A"/>
                </a:solidFill>
                <a:latin typeface="Calibri" panose="020F0502020204030204" pitchFamily="34" charset="0"/>
              </a:rPr>
              <a:t>Como aislar diferencias previas de rendimiento o motivacion usando ANCOVA o propensity score?</a:t>
            </a:r>
            <a:endParaRPr lang="en-US" sz="1500">
              <a:solidFill>
                <a:srgbClr val="37415A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42F7781-132C-38F7-BC0A-311A048D1142}"/>
              </a:ext>
            </a:extLst>
          </p:cNvPr>
          <p:cNvSpPr/>
          <p:nvPr/>
        </p:nvSpPr>
        <p:spPr>
          <a:xfrm>
            <a:off x="457200" y="5334000"/>
            <a:ext cx="508000" cy="5080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19E5AF0-2445-D2C5-D1AE-AB535FCF336D}"/>
              </a:ext>
            </a:extLst>
          </p:cNvPr>
          <p:cNvSpPr txBox="1"/>
          <p:nvPr/>
        </p:nvSpPr>
        <p:spPr>
          <a:xfrm>
            <a:off x="457200" y="5359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57A352-EFC7-D414-E5BB-28011B26DF69}"/>
              </a:ext>
            </a:extLst>
          </p:cNvPr>
          <p:cNvSpPr txBox="1"/>
          <p:nvPr/>
        </p:nvSpPr>
        <p:spPr>
          <a:xfrm>
            <a:off x="1117600" y="52832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 b="1">
                <a:solidFill>
                  <a:srgbClr val="0E1A36"/>
                </a:solidFill>
                <a:latin typeface="Calibri" panose="020F0502020204030204" pitchFamily="34" charset="0"/>
              </a:rPr>
              <a:t>Validez de constructo del IPP</a:t>
            </a:r>
            <a:endParaRPr lang="en-US" sz="1500" b="1">
              <a:solidFill>
                <a:srgbClr val="0E1A36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88C79FF-F8D4-29E7-2CB5-C7453F150280}"/>
              </a:ext>
            </a:extLst>
          </p:cNvPr>
          <p:cNvSpPr txBox="1"/>
          <p:nvPr/>
        </p:nvSpPr>
        <p:spPr>
          <a:xfrm>
            <a:off x="1117600" y="5638800"/>
            <a:ext cx="1066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37415A"/>
                </a:solidFill>
                <a:latin typeface="Calibri" panose="020F0502020204030204" pitchFamily="34" charset="0"/>
              </a:rPr>
              <a:t>Que analisis psicometrico certifica que el IPP mide preparacion real y no solo tiempo de pantalla?</a:t>
            </a:r>
            <a:endParaRPr lang="en-US" sz="1500">
              <a:solidFill>
                <a:srgbClr val="37415A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E62E8EB-80FD-41F8-C28E-6CEBF501CEC5}"/>
              </a:ext>
            </a:extLst>
          </p:cNvPr>
          <p:cNvSpPr/>
          <p:nvPr/>
        </p:nvSpPr>
        <p:spPr>
          <a:xfrm>
            <a:off x="0" y="6223000"/>
            <a:ext cx="12192000" cy="635000"/>
          </a:xfrm>
          <a:prstGeom prst="rect">
            <a:avLst/>
          </a:prstGeom>
          <a:solidFill>
            <a:srgbClr val="3478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500B273-B81A-88EF-A266-1DC24430EFE4}"/>
              </a:ext>
            </a:extLst>
          </p:cNvPr>
          <p:cNvSpPr txBox="1"/>
          <p:nvPr/>
        </p:nvSpPr>
        <p:spPr>
          <a:xfrm>
            <a:off x="508000" y="6362700"/>
            <a:ext cx="1117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CheckBefore transforma datos pasivos de Moodle en acompanamiento pedagogico oportuno.</a:t>
            </a:r>
          </a:p>
        </p:txBody>
      </p:sp>
    </p:spTree>
    <p:extLst>
      <p:ext uri="{BB962C8B-B14F-4D97-AF65-F5344CB8AC3E}">
        <p14:creationId xmlns:p14="http://schemas.microsoft.com/office/powerpoint/2010/main" val="27550967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942</Words>
  <Application>Microsoft Office PowerPoint</Application>
  <PresentationFormat>Personalizado</PresentationFormat>
  <Paragraphs>87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Salamea</dc:creator>
  <cp:lastModifiedBy>Joseph Salamea</cp:lastModifiedBy>
  <cp:revision>1</cp:revision>
  <dcterms:created xsi:type="dcterms:W3CDTF">2026-10-09T17:20:19Z</dcterms:created>
  <dcterms:modified xsi:type="dcterms:W3CDTF">2026-10-09T17:20:19Z</dcterms:modified>
</cp:coreProperties>
</file>